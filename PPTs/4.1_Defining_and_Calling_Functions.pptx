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session: today students learn how to create their own functions (define them) and how to use them (call them). Ask: what built-in functions have you already used? Expect answers like print(), len(), input().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juicer analogy to make the idea concrete. Emphasise abstraction: the user of a function only needs to know what goes in and what comes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already use built-in functions every day. Today they learn to create their own, called user-defined functions.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part of the definition. Point out that the colon and indentation are the two most common sources of syntax errors for beginners.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live if possible. Then comment out the two calls and run again: nothing is printed. This proves that defining is not the same as running.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flow with a finger on the board: define, jump in on the call, run the body, jump back out. Then show the NameError example so students see why order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Memory trick: Parameters are Placeholders; Arguments are Actual values. The second example shows a function with multiple parameters, matched in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return both gives back a value and exits the function. For multiple values, show that print(calculate(10, 4)) displays the tuple (14, 6, 40).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common beginner confusion. Ask students to predict the output of each side before revealing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wrong positional call, 19 becomes the name and 'Kiran' becomes the age. Python doesn't complain, but the meaning is wrong. Keyword arguments avoid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Built-in example students know: print() has a default end='\n'. That's why each print starts on a new line unless you change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names args and kwargs are conventions; the * and ** are what matter. Show print(type(numbers)) inside total() to confirm it is a tuple.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function can read a global variable, but y only exists while show() is running. Outside, y is undefined, hence the NameError.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global keyword, count += 1 would raise UnboundLocalError. Docstrings are what help() shows, so good docstrings make functions self-documenting.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calls on the diagram: sum_of_squares calls square twice, collects 9 and 16, and returns 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add a new student and predict the grade. Extension: modify get_grade so that marks above 100 or below 0 return 'Invalid'.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live-coding each mistake and letting students read the error message before you explain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Quickly recap each point and ask one student to give an example for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the basic set in class, intermediate as homework, and advanced as a challenge. Each exercise reinforces a specific concept from the lecture.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
Q1: None.
Q2: A parameter is the variable in the function definition; an argument is the actual value passed in the call.
Q3: No. A non-default parameter (c) cannot follow a default parameter (b=2); it is a SyntaxError.
Q4: It prints 5. The print("done") line is after return, so it never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 for questions, and preview the next topic if recursion is part of your syllabus.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4480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and Calling Functions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reusable blocks of code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Undergraduate Lecture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03520" y="14173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2A3140"/>
          </a:solidFill>
          <a:ln w="12700">
            <a:solidFill>
              <a:srgbClr val="3A42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40680" y="1554480"/>
            <a:ext cx="3108960" cy="2011680"/>
          </a:xfrm>
          <a:prstGeom prst="roundRect">
            <a:avLst>
              <a:gd name="adj" fmla="val 3636"/>
            </a:avLst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664208"/>
            <a:ext cx="82296" cy="82296"/>
          </a:xfrm>
          <a:prstGeom prst="ellipse">
            <a:avLst/>
          </a:prstGeom>
          <a:solidFill>
            <a:srgbClr val="E0605E"/>
          </a:solidFill>
          <a:ln w="12700">
            <a:solidFill>
              <a:srgbClr val="E060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24144" y="1664208"/>
            <a:ext cx="82296" cy="82296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70448" y="1664208"/>
            <a:ext cx="82296" cy="82296"/>
          </a:xfrm>
          <a:prstGeom prst="ellipse">
            <a:avLst/>
          </a:prstGeom>
          <a:solidFill>
            <a:srgbClr val="5CC08A"/>
          </a:solidFill>
          <a:ln w="12700">
            <a:solidFill>
              <a:srgbClr val="5CC0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532120" y="1828800"/>
            <a:ext cx="2926080" cy="166420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7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"Hello, "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7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"Class"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Function, and Why Use One?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321040" y="384048"/>
            <a:ext cx="411480" cy="41148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21040" y="384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</a:t>
            </a:r>
            <a:pPr indent="0" marL="0"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named block of reusable code that performs a specific task. Write it once, use it many times.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1499616" cy="1828800"/>
          </a:xfrm>
          <a:prstGeom prst="roundRect">
            <a:avLst>
              <a:gd name="adj" fmla="val 4878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1828800"/>
            <a:ext cx="548640" cy="54864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1956816"/>
            <a:ext cx="292608" cy="2926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2487168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Reusability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816352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once, use many times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139696" y="1645920"/>
            <a:ext cx="1499616" cy="1828800"/>
          </a:xfrm>
          <a:prstGeom prst="roundRect">
            <a:avLst>
              <a:gd name="adj" fmla="val 4878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615184" y="1828800"/>
            <a:ext cx="548640" cy="54864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956816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231136" y="2487168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2231136" y="2816352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big programs into small pieces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822192" y="1645920"/>
            <a:ext cx="1499616" cy="1828800"/>
          </a:xfrm>
          <a:prstGeom prst="roundRect">
            <a:avLst>
              <a:gd name="adj" fmla="val 4878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297680" y="1828800"/>
            <a:ext cx="548640" cy="54864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696" y="1956816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913632" y="2487168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Readability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3913632" y="2816352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calculate_gpa() explains itself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504688" y="1645920"/>
            <a:ext cx="1499616" cy="1828800"/>
          </a:xfrm>
          <a:prstGeom prst="roundRect">
            <a:avLst>
              <a:gd name="adj" fmla="val 4878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80176" y="1828800"/>
            <a:ext cx="548640" cy="54864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1956816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596128" y="2487168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Debugging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5596128" y="2816352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errors inside one function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7187184" y="1645920"/>
            <a:ext cx="1499616" cy="1828800"/>
          </a:xfrm>
          <a:prstGeom prst="roundRect">
            <a:avLst>
              <a:gd name="adj" fmla="val 4878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662672" y="1828800"/>
            <a:ext cx="548640" cy="54864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0688" y="1956816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278624" y="2487168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7278624" y="2816352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it does, not how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594360" y="374904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 </a:t>
            </a:r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is like a juicer. Fruit goes in (input), it is processed, and juice comes out (output). You don't need to know how the motor works to use it.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vs User-defined Functions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321040" y="384048"/>
            <a:ext cx="411480" cy="41148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21040" y="384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3474720"/>
          </a:xfrm>
          <a:prstGeom prst="roundRect">
            <a:avLst>
              <a:gd name="adj" fmla="val 2105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Functions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45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provided by Python. You just call them.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2860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23160" y="228600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23160" y="22860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97180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9718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input()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423160" y="297180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423160" y="29718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657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type()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423160" y="365760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423160" y="3657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1097280"/>
            <a:ext cx="3931920" cy="3474720"/>
          </a:xfrm>
          <a:prstGeom prst="roundRect">
            <a:avLst>
              <a:gd name="adj" fmla="val 2105"/>
            </a:avLst>
          </a:prstGeom>
          <a:solidFill>
            <a:srgbClr val="FDF3DC"/>
          </a:solidFill>
          <a:ln w="12700">
            <a:solidFill>
              <a:srgbClr val="FDF3D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3776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User-defined Functions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16459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the programmer using the def keyword. This is today's topic.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937760" y="233172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74920" y="2441448"/>
            <a:ext cx="82296" cy="82296"/>
          </a:xfrm>
          <a:prstGeom prst="ellipse">
            <a:avLst/>
          </a:prstGeom>
          <a:solidFill>
            <a:srgbClr val="E0605E"/>
          </a:solidFill>
          <a:ln w="12700">
            <a:solidFill>
              <a:srgbClr val="E060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21224" y="2441448"/>
            <a:ext cx="82296" cy="82296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67528" y="2441448"/>
            <a:ext cx="82296" cy="82296"/>
          </a:xfrm>
          <a:prstGeom prst="ellipse">
            <a:avLst/>
          </a:prstGeom>
          <a:solidFill>
            <a:srgbClr val="5CC08A"/>
          </a:solidFill>
          <a:ln w="12700">
            <a:solidFill>
              <a:srgbClr val="5CC08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029200" y="2606040"/>
            <a:ext cx="3383280" cy="166420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cube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cube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  </a:t>
            </a:r>
            <a:pPr indent="0" marL="0">
              <a:buNone/>
            </a:pPr>
            <a:r>
              <a:rPr lang="en-US" sz="1300" i="1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27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a Function: Syntax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321040" y="384048"/>
            <a:ext cx="411480" cy="41148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21040" y="384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207008"/>
            <a:ext cx="82296" cy="82296"/>
          </a:xfrm>
          <a:prstGeom prst="ellipse">
            <a:avLst/>
          </a:prstGeom>
          <a:solidFill>
            <a:srgbClr val="E0605E"/>
          </a:solidFill>
          <a:ln w="12700">
            <a:solidFill>
              <a:srgbClr val="E060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0664" y="1207008"/>
            <a:ext cx="82296" cy="82296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968" y="1207008"/>
            <a:ext cx="82296" cy="82296"/>
          </a:xfrm>
          <a:prstGeom prst="ellipse">
            <a:avLst/>
          </a:prstGeom>
          <a:solidFill>
            <a:srgbClr val="5CC08A"/>
          </a:solidFill>
          <a:ln w="12700">
            <a:solidFill>
              <a:srgbClr val="5CC0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26080" y="113385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371600"/>
            <a:ext cx="3749040" cy="175564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function_name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parameters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50" dirty="0">
                <a:solidFill>
                  <a:srgbClr val="7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"""Optional docstring."""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50" i="1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body of the function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statement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5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250" i="1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optional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34290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 </a:t>
            </a:r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body must be indented (usually 4 spaces). Indentation tells Python where the function starts and ends.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097280"/>
          <a:ext cx="685800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60604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8A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def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 that starts a definition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8A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function_name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of the function (identifier rules)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8A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parameters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Inputs the function accepts (optional)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8A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: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 the start of the function body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8A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indented body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Statements that run when called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8A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return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Sends a result back (optional)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Calling a Function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321040" y="384048"/>
            <a:ext cx="411480" cy="41148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21040" y="384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9E4E6"/>
          </a:solidFill>
          <a:ln w="12700">
            <a:solidFill>
              <a:srgbClr val="F9E4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0515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a function does NOT run it. The code runs only when the function is called.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4846320" cy="2103120"/>
          </a:xfrm>
          <a:prstGeom prst="roundRect">
            <a:avLst>
              <a:gd name="adj" fmla="val 3478"/>
            </a:avLst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938528"/>
            <a:ext cx="82296" cy="82296"/>
          </a:xfrm>
          <a:prstGeom prst="ellipse">
            <a:avLst/>
          </a:prstGeom>
          <a:solidFill>
            <a:srgbClr val="E0605E"/>
          </a:solidFill>
          <a:ln w="12700">
            <a:solidFill>
              <a:srgbClr val="E060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" y="1938528"/>
            <a:ext cx="82296" cy="82296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" y="1938528"/>
            <a:ext cx="82296" cy="82296"/>
          </a:xfrm>
          <a:prstGeom prst="ellipse">
            <a:avLst/>
          </a:prstGeom>
          <a:solidFill>
            <a:srgbClr val="5CC08A"/>
          </a:solidFill>
          <a:ln w="12700">
            <a:solidFill>
              <a:srgbClr val="5CC0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103120"/>
            <a:ext cx="4663440" cy="175564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7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"Hello, welcome to Python!"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     </a:t>
            </a:r>
            <a:pPr indent="0" marL="0">
              <a:buNone/>
            </a:pPr>
            <a:r>
              <a:rPr lang="en-US" sz="1300" i="1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function call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     </a:t>
            </a:r>
            <a:pPr indent="0" marL="0">
              <a:buNone/>
            </a:pPr>
            <a:r>
              <a:rPr lang="en-US" sz="1300" i="1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call it again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577840" y="1828800"/>
            <a:ext cx="3108960" cy="2103120"/>
          </a:xfrm>
          <a:prstGeom prst="roundRect">
            <a:avLst>
              <a:gd name="adj" fmla="val 3478"/>
            </a:avLst>
          </a:prstGeom>
          <a:solidFill>
            <a:srgbClr val="F3F4F7"/>
          </a:solidFill>
          <a:ln w="12700">
            <a:solidFill>
              <a:srgbClr val="D5D8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15000" y="19019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2121408"/>
            <a:ext cx="2926080" cy="173736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Hello, welcome to Python!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Hello, welcome to Python!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call a function, write its name followed by parentheses: </a:t>
            </a:r>
            <a:pPr indent="0" marL="0">
              <a:buNone/>
            </a:pPr>
            <a:r>
              <a:rPr lang="en-US" sz="1400" b="1" dirty="0">
                <a:solidFill>
                  <a:srgbClr val="1F8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greet()</a:t>
            </a:r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function can be called any number of times.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 of Execution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321040" y="384048"/>
            <a:ext cx="411480" cy="41148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21040" y="384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3258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92024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reads the def block and stores the function in memory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22576" y="2011680"/>
            <a:ext cx="228600" cy="0"/>
          </a:xfrm>
          <a:prstGeom prst="line">
            <a:avLst/>
          </a:prstGeom>
          <a:noFill/>
          <a:ln w="19050">
            <a:solidFill>
              <a:srgbClr val="5B627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587752" y="114300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70632" y="1325880"/>
            <a:ext cx="457200" cy="45720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70632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319272" y="13258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770632" y="192024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greet() is reached, control jumps into the function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53128" y="2011680"/>
            <a:ext cx="228600" cy="0"/>
          </a:xfrm>
          <a:prstGeom prst="line">
            <a:avLst/>
          </a:prstGeom>
          <a:noFill/>
          <a:ln w="19050">
            <a:solidFill>
              <a:srgbClr val="5B627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718304" y="114300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01184" y="1325880"/>
            <a:ext cx="457200" cy="45720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01184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49824" y="13258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901184" y="192024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statements in the body run one by one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0" y="2011680"/>
            <a:ext cx="228600" cy="0"/>
          </a:xfrm>
          <a:prstGeom prst="line">
            <a:avLst/>
          </a:prstGeom>
          <a:noFill/>
          <a:ln w="19050">
            <a:solidFill>
              <a:srgbClr val="5B627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848856" y="114300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31736" y="1325880"/>
            <a:ext cx="457200" cy="45720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031736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580376" y="13258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031736" y="192024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goes back to the line after the call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define before you call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35204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function is called before its definition, Python does not know it yet and raises a NameError.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297680" y="3108960"/>
            <a:ext cx="4389120" cy="1463040"/>
          </a:xfrm>
          <a:prstGeom prst="roundRect">
            <a:avLst>
              <a:gd name="adj" fmla="val 5000"/>
            </a:avLst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34840" y="3218688"/>
            <a:ext cx="82296" cy="82296"/>
          </a:xfrm>
          <a:prstGeom prst="ellipse">
            <a:avLst/>
          </a:prstGeom>
          <a:solidFill>
            <a:srgbClr val="E0605E"/>
          </a:solidFill>
          <a:ln w="12700">
            <a:solidFill>
              <a:srgbClr val="E0605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81144" y="3218688"/>
            <a:ext cx="82296" cy="82296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27448" y="3218688"/>
            <a:ext cx="82296" cy="82296"/>
          </a:xfrm>
          <a:prstGeom prst="ellipse">
            <a:avLst/>
          </a:prstGeom>
          <a:solidFill>
            <a:srgbClr val="5CC08A"/>
          </a:solidFill>
          <a:ln w="12700">
            <a:solidFill>
              <a:srgbClr val="5CC08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389120" y="3383280"/>
            <a:ext cx="4206240" cy="111556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say_hi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         </a:t>
            </a:r>
            <a:pPr indent="0" marL="0">
              <a:buNone/>
            </a:pPr>
            <a:r>
              <a:rPr lang="en-US" sz="1250" i="1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NameError!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say_hi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5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7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"Hi"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Parameters vs Arguments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321040" y="384048"/>
            <a:ext cx="411480" cy="41148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21040" y="384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77640" cy="868680"/>
          </a:xfrm>
          <a:prstGeom prst="roundRect">
            <a:avLst>
              <a:gd name="adj" fmla="val 8421"/>
            </a:avLst>
          </a:prstGeom>
          <a:solidFill>
            <a:srgbClr val="FDF3DC"/>
          </a:solidFill>
          <a:ln w="12700">
            <a:solidFill>
              <a:srgbClr val="FDF3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6128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087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listed in the function definition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51560"/>
            <a:ext cx="3977640" cy="868680"/>
          </a:xfrm>
          <a:prstGeom prst="roundRect">
            <a:avLst>
              <a:gd name="adj" fmla="val 8421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16128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5087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value passed when calling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5120640" cy="2423160"/>
          </a:xfrm>
          <a:prstGeom prst="roundRect">
            <a:avLst>
              <a:gd name="adj" fmla="val 3019"/>
            </a:avLst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258568"/>
            <a:ext cx="82296" cy="82296"/>
          </a:xfrm>
          <a:prstGeom prst="ellipse">
            <a:avLst/>
          </a:prstGeom>
          <a:solidFill>
            <a:srgbClr val="E0605E"/>
          </a:solidFill>
          <a:ln w="12700">
            <a:solidFill>
              <a:srgbClr val="E060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0664" y="2258568"/>
            <a:ext cx="82296" cy="82296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6968" y="2258568"/>
            <a:ext cx="82296" cy="82296"/>
          </a:xfrm>
          <a:prstGeom prst="ellipse">
            <a:avLst/>
          </a:prstGeom>
          <a:solidFill>
            <a:srgbClr val="5CC08A"/>
          </a:solidFill>
          <a:ln w="12700">
            <a:solidFill>
              <a:srgbClr val="5CC08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2423160"/>
            <a:ext cx="4937760" cy="20756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        </a:t>
            </a:r>
            <a:pPr indent="0" marL="0">
              <a:buNone/>
            </a:pPr>
            <a:r>
              <a:rPr lang="en-US" sz="1200" i="1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name = parameter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7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"Hello,"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7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"Ananya"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  </a:t>
            </a:r>
            <a:pPr indent="0" marL="0">
              <a:buNone/>
            </a:pPr>
            <a:r>
              <a:rPr lang="en-US" sz="1200" i="1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"Ananya" = argument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7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"Rahul"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52160" y="2148840"/>
            <a:ext cx="2834640" cy="1325880"/>
          </a:xfrm>
          <a:prstGeom prst="roundRect">
            <a:avLst>
              <a:gd name="adj" fmla="val 5517"/>
            </a:avLst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9320" y="2258568"/>
            <a:ext cx="82296" cy="82296"/>
          </a:xfrm>
          <a:prstGeom prst="ellipse">
            <a:avLst/>
          </a:prstGeom>
          <a:solidFill>
            <a:srgbClr val="E0605E"/>
          </a:solidFill>
          <a:ln w="12700">
            <a:solidFill>
              <a:srgbClr val="E060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35624" y="2258568"/>
            <a:ext cx="82296" cy="82296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81928" y="2258568"/>
            <a:ext cx="82296" cy="82296"/>
          </a:xfrm>
          <a:prstGeom prst="ellipse">
            <a:avLst/>
          </a:prstGeom>
          <a:solidFill>
            <a:srgbClr val="5CC08A"/>
          </a:solidFill>
          <a:ln w="12700">
            <a:solidFill>
              <a:srgbClr val="5CC08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0" y="2423160"/>
            <a:ext cx="2651760" cy="97840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7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"Sum ="</a:t>
            </a:r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52160" y="361188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F3F4F7"/>
          </a:solidFill>
          <a:ln w="12700">
            <a:solidFill>
              <a:srgbClr val="D5D8D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89320" y="3685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0" y="3904488"/>
            <a:ext cx="2651760" cy="59436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 = 30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return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321040" y="384048"/>
            <a:ext cx="411480" cy="41148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21040" y="384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74320" cy="27432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097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 value back </a:t>
            </a:r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caller, where it can be stored or reused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55648"/>
            <a:ext cx="274320" cy="27432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16642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the function </a:t>
            </a:r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immediately; lines after it never run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22576"/>
            <a:ext cx="274320" cy="27432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223113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return? </a:t>
            </a:r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 returns None by default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3749040" cy="1645920"/>
          </a:xfrm>
          <a:prstGeom prst="roundRect">
            <a:avLst>
              <a:gd name="adj" fmla="val 4444"/>
            </a:avLst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3035808"/>
            <a:ext cx="82296" cy="82296"/>
          </a:xfrm>
          <a:prstGeom prst="ellipse">
            <a:avLst/>
          </a:prstGeom>
          <a:solidFill>
            <a:srgbClr val="E0605E"/>
          </a:solidFill>
          <a:ln w="12700">
            <a:solidFill>
              <a:srgbClr val="E060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0664" y="3035808"/>
            <a:ext cx="82296" cy="82296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6968" y="3035808"/>
            <a:ext cx="82296" cy="82296"/>
          </a:xfrm>
          <a:prstGeom prst="ellipse">
            <a:avLst/>
          </a:prstGeom>
          <a:solidFill>
            <a:srgbClr val="5CC08A"/>
          </a:solidFill>
          <a:ln w="12700">
            <a:solidFill>
              <a:srgbClr val="5CC08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200400"/>
            <a:ext cx="3566160" cy="129844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</a:t>
            </a:r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</a:t>
            </a:r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</a:t>
            </a:r>
            <a:pPr indent="0" marL="0">
              <a:buNone/>
            </a:pPr>
            <a:r>
              <a:rPr lang="en-US" sz="1150" i="1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</a:t>
            </a:r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+ </a:t>
            </a:r>
            <a:pPr indent="0" marL="0">
              <a:buNone/>
            </a:pPr>
            <a:r>
              <a:rPr lang="en-US" sz="115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buNone/>
            </a:pPr>
            <a:r>
              <a:rPr lang="en-US" sz="1150" i="1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10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1051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multiple values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80560" y="1508760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1618488"/>
            <a:ext cx="82296" cy="82296"/>
          </a:xfrm>
          <a:prstGeom prst="ellipse">
            <a:avLst/>
          </a:prstGeom>
          <a:solidFill>
            <a:srgbClr val="E0605E"/>
          </a:solidFill>
          <a:ln w="12700">
            <a:solidFill>
              <a:srgbClr val="E060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64024" y="1618488"/>
            <a:ext cx="82296" cy="82296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10328" y="1618488"/>
            <a:ext cx="82296" cy="82296"/>
          </a:xfrm>
          <a:prstGeom prst="ellipse">
            <a:avLst/>
          </a:prstGeom>
          <a:solidFill>
            <a:srgbClr val="5CC08A"/>
          </a:solidFill>
          <a:ln w="12700">
            <a:solidFill>
              <a:srgbClr val="5CC08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0" y="1783080"/>
            <a:ext cx="4023360" cy="14813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</a:t>
            </a:r>
            <a:pPr indent="0" marL="0">
              <a:buNone/>
            </a:pPr>
            <a:r>
              <a:rPr lang="en-US" sz="1200" i="1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14 6 40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480560" y="352044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17720" y="352044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 </a:t>
            </a:r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packs the values into a tuple, which is unpacked into separate variables.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 vs return: A Common Confusion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321040" y="384048"/>
            <a:ext cx="411480" cy="41148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21040" y="384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 →  only displays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 →  gives the value back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618488"/>
            <a:ext cx="82296" cy="82296"/>
          </a:xfrm>
          <a:prstGeom prst="ellipse">
            <a:avLst/>
          </a:prstGeom>
          <a:solidFill>
            <a:srgbClr val="E0605E"/>
          </a:solidFill>
          <a:ln w="12700">
            <a:solidFill>
              <a:srgbClr val="E060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" y="1618488"/>
            <a:ext cx="82296" cy="82296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" y="1618488"/>
            <a:ext cx="82296" cy="82296"/>
          </a:xfrm>
          <a:prstGeom prst="ellipse">
            <a:avLst/>
          </a:prstGeom>
          <a:solidFill>
            <a:srgbClr val="5CC08A"/>
          </a:solidFill>
          <a:ln w="12700">
            <a:solidFill>
              <a:srgbClr val="5CC0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783080"/>
            <a:ext cx="3749040" cy="175564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f1(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buNone/>
            </a:pPr>
            <a:r>
              <a:rPr lang="en-US" sz="13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f1(</a:t>
            </a:r>
            <a:pPr indent="0" marL="0">
              <a:buNone/>
            </a:pPr>
            <a:r>
              <a:rPr lang="en-US" sz="13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</a:t>
            </a:r>
            <a:pPr indent="0" marL="0">
              <a:buNone/>
            </a:pPr>
            <a:r>
              <a:rPr lang="en-US" sz="1300" i="1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shows 10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</a:t>
            </a:r>
            <a:pPr indent="0" marL="0">
              <a:buNone/>
            </a:pPr>
            <a:r>
              <a:rPr lang="en-US" sz="1300" i="1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50876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1618488"/>
            <a:ext cx="82296" cy="82296"/>
          </a:xfrm>
          <a:prstGeom prst="ellipse">
            <a:avLst/>
          </a:prstGeom>
          <a:solidFill>
            <a:srgbClr val="E0605E"/>
          </a:solidFill>
          <a:ln w="12700">
            <a:solidFill>
              <a:srgbClr val="E060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38344" y="1618488"/>
            <a:ext cx="82296" cy="82296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84648" y="1618488"/>
            <a:ext cx="82296" cy="82296"/>
          </a:xfrm>
          <a:prstGeom prst="ellipse">
            <a:avLst/>
          </a:prstGeom>
          <a:solidFill>
            <a:srgbClr val="5CC08A"/>
          </a:solidFill>
          <a:ln w="12700">
            <a:solidFill>
              <a:srgbClr val="5CC0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1783080"/>
            <a:ext cx="3749040" cy="175564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f2(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buNone/>
            </a:pPr>
            <a:r>
              <a:rPr lang="en-US" sz="13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f2(</a:t>
            </a:r>
            <a:pPr indent="0" marL="0">
              <a:buNone/>
            </a:pPr>
            <a:r>
              <a:rPr lang="en-US" sz="13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</a:t>
            </a:r>
            <a:pPr indent="0" marL="0">
              <a:buNone/>
            </a:pPr>
            <a:r>
              <a:rPr lang="en-US" sz="1300" i="1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shows nothing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</a:t>
            </a:r>
            <a:pPr indent="0" marL="0">
              <a:buNone/>
            </a:pPr>
            <a:r>
              <a:rPr lang="en-US" sz="1300" i="1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2700">
            <a:solidFill>
              <a:srgbClr val="FDF3D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384048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print to show something to the user; use return when the result is needed later in the program.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Positional and Keyword Arguments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321040" y="384048"/>
            <a:ext cx="411480" cy="41148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21040" y="384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arguments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to parameters by position (order matters).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4069080" cy="2011680"/>
          </a:xfrm>
          <a:prstGeom prst="roundRect">
            <a:avLst>
              <a:gd name="adj" fmla="val 3636"/>
            </a:avLst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984248"/>
            <a:ext cx="82296" cy="82296"/>
          </a:xfrm>
          <a:prstGeom prst="ellipse">
            <a:avLst/>
          </a:prstGeom>
          <a:solidFill>
            <a:srgbClr val="E0605E"/>
          </a:solidFill>
          <a:ln w="12700">
            <a:solidFill>
              <a:srgbClr val="E060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" y="1984248"/>
            <a:ext cx="82296" cy="82296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" y="1984248"/>
            <a:ext cx="82296" cy="82296"/>
          </a:xfrm>
          <a:prstGeom prst="ellipse">
            <a:avLst/>
          </a:prstGeom>
          <a:solidFill>
            <a:srgbClr val="5CC08A"/>
          </a:solidFill>
          <a:ln w="12700">
            <a:solidFill>
              <a:srgbClr val="5CC0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148840"/>
            <a:ext cx="3886200" cy="166420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7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"is"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7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"Kiran"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buNone/>
            </a:pPr>
            <a:r>
              <a:rPr lang="en-US" sz="1200" i="1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correct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7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"Kiran"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buNone/>
            </a:pPr>
            <a:r>
              <a:rPr lang="en-US" sz="1200" i="1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wrong!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arguments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1417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by parameter name (order doesn't matter).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1874520"/>
            <a:ext cx="3931920" cy="2011680"/>
          </a:xfrm>
          <a:prstGeom prst="roundRect">
            <a:avLst>
              <a:gd name="adj" fmla="val 3636"/>
            </a:avLst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92040" y="1984248"/>
            <a:ext cx="82296" cy="82296"/>
          </a:xfrm>
          <a:prstGeom prst="ellipse">
            <a:avLst/>
          </a:prstGeom>
          <a:solidFill>
            <a:srgbClr val="E0605E"/>
          </a:solidFill>
          <a:ln w="12700">
            <a:solidFill>
              <a:srgbClr val="E060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38344" y="1984248"/>
            <a:ext cx="82296" cy="82296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84648" y="1984248"/>
            <a:ext cx="82296" cy="82296"/>
          </a:xfrm>
          <a:prstGeom prst="ellipse">
            <a:avLst/>
          </a:prstGeom>
          <a:solidFill>
            <a:srgbClr val="5CC08A"/>
          </a:solidFill>
          <a:ln w="12700">
            <a:solidFill>
              <a:srgbClr val="5CC08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2148840"/>
            <a:ext cx="3749040" cy="166420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7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"Kiran"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7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"Kiran"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both print: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Kiran is 19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406908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</a:t>
            </a:r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arguments make calls easier to read when a function has many parameters.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Arguments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321040" y="384048"/>
            <a:ext cx="411480" cy="41148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21040" y="384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parameter can have a default value, used when no argument is passed.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937760" cy="1920240"/>
          </a:xfrm>
          <a:prstGeom prst="roundRect">
            <a:avLst>
              <a:gd name="adj" fmla="val 3810"/>
            </a:avLst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709928"/>
            <a:ext cx="82296" cy="82296"/>
          </a:xfrm>
          <a:prstGeom prst="ellipse">
            <a:avLst/>
          </a:prstGeom>
          <a:solidFill>
            <a:srgbClr val="E0605E"/>
          </a:solidFill>
          <a:ln w="12700">
            <a:solidFill>
              <a:srgbClr val="E060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" y="1709928"/>
            <a:ext cx="82296" cy="82296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6968" y="1709928"/>
            <a:ext cx="82296" cy="82296"/>
          </a:xfrm>
          <a:prstGeom prst="ellipse">
            <a:avLst/>
          </a:prstGeom>
          <a:solidFill>
            <a:srgbClr val="5CC08A"/>
          </a:solidFill>
          <a:ln w="12700">
            <a:solidFill>
              <a:srgbClr val="5CC0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874520"/>
            <a:ext cx="4754880" cy="157276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7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"Good morning"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5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7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"Priya"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7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"Priya"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50" dirty="0">
                <a:solidFill>
                  <a:srgbClr val="7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"Good evening"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0" y="1600200"/>
            <a:ext cx="3017520" cy="1920240"/>
          </a:xfrm>
          <a:prstGeom prst="roundRect">
            <a:avLst>
              <a:gd name="adj" fmla="val 3810"/>
            </a:avLst>
          </a:prstGeom>
          <a:solidFill>
            <a:srgbClr val="F3F4F7"/>
          </a:solidFill>
          <a:ln w="12700">
            <a:solidFill>
              <a:srgbClr val="D5D8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06440" y="16733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5760720" y="1892808"/>
            <a:ext cx="2834640" cy="155448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 morning Priya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 evening Priya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9E4E6"/>
          </a:solidFill>
          <a:ln w="12700">
            <a:solidFill>
              <a:srgbClr val="F9E4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370332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</a:t>
            </a:r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parameters must come after non-default ones.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f(a=1, b):</a:t>
            </a:r>
            <a:pPr indent="0" marL="0">
              <a:buNone/>
            </a:pPr>
            <a:r>
              <a:rPr lang="en-US" sz="1400" b="1" dirty="0">
                <a:solidFill>
                  <a:srgbClr val="C8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SyntaxError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Variable-length Arguments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321040" y="384048"/>
            <a:ext cx="411480" cy="41148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21040" y="384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8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*args</a:t>
            </a:r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any number of positional values, received as a tuple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069080" cy="3017520"/>
          </a:xfrm>
          <a:prstGeom prst="roundRect">
            <a:avLst>
              <a:gd name="adj" fmla="val 2424"/>
            </a:avLst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64208"/>
            <a:ext cx="82296" cy="82296"/>
          </a:xfrm>
          <a:prstGeom prst="ellipse">
            <a:avLst/>
          </a:prstGeom>
          <a:solidFill>
            <a:srgbClr val="E0605E"/>
          </a:solidFill>
          <a:ln w="12700">
            <a:solidFill>
              <a:srgbClr val="E060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" y="1664208"/>
            <a:ext cx="82296" cy="82296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6968" y="1664208"/>
            <a:ext cx="82296" cy="82296"/>
          </a:xfrm>
          <a:prstGeom prst="ellipse">
            <a:avLst/>
          </a:prstGeom>
          <a:solidFill>
            <a:srgbClr val="5CC08A"/>
          </a:solidFill>
          <a:ln w="12700">
            <a:solidFill>
              <a:srgbClr val="5CC0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828800"/>
            <a:ext cx="3886200" cy="267004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2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+= 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      </a:t>
            </a:r>
            <a:pPr indent="0" marL="0">
              <a:buNone/>
            </a:pPr>
            <a:r>
              <a:rPr lang="en-US" sz="1200" i="1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 </a:t>
            </a:r>
            <a:pPr indent="0" marL="0">
              <a:buNone/>
            </a:pPr>
            <a:r>
              <a:rPr lang="en-US" sz="1200" i="1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8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**kwargs</a:t>
            </a:r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any number of keyword values, received as a dictionary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554480"/>
            <a:ext cx="3931920" cy="2011680"/>
          </a:xfrm>
          <a:prstGeom prst="roundRect">
            <a:avLst>
              <a:gd name="adj" fmla="val 3636"/>
            </a:avLst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1664208"/>
            <a:ext cx="82296" cy="82296"/>
          </a:xfrm>
          <a:prstGeom prst="ellipse">
            <a:avLst/>
          </a:prstGeom>
          <a:solidFill>
            <a:srgbClr val="E0605E"/>
          </a:solidFill>
          <a:ln w="12700">
            <a:solidFill>
              <a:srgbClr val="E060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38344" y="1664208"/>
            <a:ext cx="82296" cy="82296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84648" y="1664208"/>
            <a:ext cx="82296" cy="82296"/>
          </a:xfrm>
          <a:prstGeom prst="ellipse">
            <a:avLst/>
          </a:prstGeom>
          <a:solidFill>
            <a:srgbClr val="5CC08A"/>
          </a:solidFill>
          <a:ln w="12700">
            <a:solidFill>
              <a:srgbClr val="5CC0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1828800"/>
            <a:ext cx="3749040" cy="166420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(**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details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details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7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":"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7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"Arjun"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370332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F3F4F7"/>
          </a:solidFill>
          <a:ln w="12700">
            <a:solidFill>
              <a:srgbClr val="D5D8D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92040" y="37764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3995928"/>
            <a:ext cx="3749040" cy="50292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: Arjun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: 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Variables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321040" y="384048"/>
            <a:ext cx="411480" cy="41148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21040" y="384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is the region of a program where a variable can be accessed.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DF3DC"/>
          </a:solidFill>
          <a:ln w="12700">
            <a:solidFill>
              <a:srgbClr val="FDF3D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7099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variable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574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inside a function. Accessible only within that function, and disappears when it ends.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2644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variable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6118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outside all functions. Can be read anywhere in the program.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1600200"/>
            <a:ext cx="4114800" cy="2926080"/>
          </a:xfrm>
          <a:prstGeom prst="roundRect">
            <a:avLst>
              <a:gd name="adj" fmla="val 2500"/>
            </a:avLst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709928"/>
            <a:ext cx="82296" cy="82296"/>
          </a:xfrm>
          <a:prstGeom prst="ellipse">
            <a:avLst/>
          </a:prstGeom>
          <a:solidFill>
            <a:srgbClr val="E0605E"/>
          </a:solidFill>
          <a:ln w="12700">
            <a:solidFill>
              <a:srgbClr val="E060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55464" y="1709928"/>
            <a:ext cx="82296" cy="82296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01768" y="1709928"/>
            <a:ext cx="82296" cy="82296"/>
          </a:xfrm>
          <a:prstGeom prst="ellipse">
            <a:avLst/>
          </a:prstGeom>
          <a:solidFill>
            <a:srgbClr val="5CC08A"/>
          </a:solidFill>
          <a:ln w="12700">
            <a:solidFill>
              <a:srgbClr val="5CC0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63440" y="1874520"/>
            <a:ext cx="3931920" cy="257860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25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buNone/>
            </a:pPr>
            <a:r>
              <a:rPr lang="en-US" sz="1250" i="1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global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25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buNone/>
            </a:pPr>
            <a:r>
              <a:rPr lang="en-US" sz="1250" i="1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local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5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          </a:t>
            </a:r>
            <a:pPr indent="0" marL="0">
              <a:buNone/>
            </a:pPr>
            <a:r>
              <a:rPr lang="en-US" sz="1250" i="1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100 50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  </a:t>
            </a:r>
            <a:pPr indent="0" marL="0">
              <a:buNone/>
            </a:pPr>
            <a:r>
              <a:rPr lang="en-US" sz="1250" i="1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NameError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global Keyword and Docstrings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321040" y="384048"/>
            <a:ext cx="411480" cy="41148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21040" y="384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Modifying a global variable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572768"/>
            <a:ext cx="82296" cy="82296"/>
          </a:xfrm>
          <a:prstGeom prst="ellipse">
            <a:avLst/>
          </a:prstGeom>
          <a:solidFill>
            <a:srgbClr val="E0605E"/>
          </a:solidFill>
          <a:ln w="12700">
            <a:solidFill>
              <a:srgbClr val="E060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" y="1572768"/>
            <a:ext cx="82296" cy="82296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6968" y="1572768"/>
            <a:ext cx="82296" cy="82296"/>
          </a:xfrm>
          <a:prstGeom prst="ellipse">
            <a:avLst/>
          </a:prstGeom>
          <a:solidFill>
            <a:srgbClr val="5CC08A"/>
          </a:solidFill>
          <a:ln w="12700">
            <a:solidFill>
              <a:srgbClr val="5CC0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737360"/>
            <a:ext cx="3840480" cy="19385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2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increment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+= </a:t>
            </a:r>
            <a:pPr indent="0" marL="0">
              <a:buNone/>
            </a:pPr>
            <a:r>
              <a:rPr lang="en-US" sz="12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increment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increment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</a:t>
            </a:r>
            <a:pPr indent="0" marL="0">
              <a:buNone/>
            </a:pPr>
            <a:r>
              <a:rPr lang="en-US" sz="1200" i="1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9E4E6"/>
          </a:solidFill>
          <a:ln w="12700">
            <a:solidFill>
              <a:srgbClr val="F9E4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39319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sparingly:  </a:t>
            </a:r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values in and returning results is cleaner.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Documenting with docstrings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54880" y="146304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92040" y="1572768"/>
            <a:ext cx="82296" cy="82296"/>
          </a:xfrm>
          <a:prstGeom prst="ellipse">
            <a:avLst/>
          </a:prstGeom>
          <a:solidFill>
            <a:srgbClr val="E0605E"/>
          </a:solidFill>
          <a:ln w="12700">
            <a:solidFill>
              <a:srgbClr val="E060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38344" y="1572768"/>
            <a:ext cx="82296" cy="82296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84648" y="1572768"/>
            <a:ext cx="82296" cy="82296"/>
          </a:xfrm>
          <a:prstGeom prst="ellipse">
            <a:avLst/>
          </a:prstGeom>
          <a:solidFill>
            <a:srgbClr val="5CC08A"/>
          </a:solidFill>
          <a:ln w="12700">
            <a:solidFill>
              <a:srgbClr val="5CC08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1737360"/>
            <a:ext cx="3749040" cy="19385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7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"""Return area of a circle."""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3.14159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help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__doc__</a:t>
            </a:r>
            <a:pPr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93192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92040" y="39319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Docstring:  </a:t>
            </a:r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statement in the body, in triple quotes.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 Calling Other Functions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321040" y="384048"/>
            <a:ext cx="411480" cy="41148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21040" y="384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207008"/>
            <a:ext cx="82296" cy="82296"/>
          </a:xfrm>
          <a:prstGeom prst="ellipse">
            <a:avLst/>
          </a:prstGeom>
          <a:solidFill>
            <a:srgbClr val="E0605E"/>
          </a:solidFill>
          <a:ln w="12700">
            <a:solidFill>
              <a:srgbClr val="E060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0664" y="1207008"/>
            <a:ext cx="82296" cy="82296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968" y="1207008"/>
            <a:ext cx="82296" cy="82296"/>
          </a:xfrm>
          <a:prstGeom prst="ellipse">
            <a:avLst/>
          </a:prstGeom>
          <a:solidFill>
            <a:srgbClr val="5CC08A"/>
          </a:solidFill>
          <a:ln w="12700">
            <a:solidFill>
              <a:srgbClr val="5CC0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371600"/>
            <a:ext cx="3840480" cy="175564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</a:t>
            </a:r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sum_of_squares</a:t>
            </a:r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</a:t>
            </a:r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+ </a:t>
            </a:r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</a:t>
            </a:r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sum_of_squares</a:t>
            </a:r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42900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programs are built by combining small functions. This also leads into recursion: a function that calls itself.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20640" y="1188720"/>
            <a:ext cx="3108960" cy="548640"/>
          </a:xfrm>
          <a:prstGeom prst="roundRect">
            <a:avLst>
              <a:gd name="adj" fmla="val 13333"/>
            </a:avLst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20640" y="1188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sum_of_squares(3, 4)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233172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FDF3DC"/>
          </a:solidFill>
          <a:ln w="12700">
            <a:solidFill>
              <a:srgbClr val="FDF3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2331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square(3)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0" y="233172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FDF3DC"/>
          </a:solidFill>
          <a:ln w="12700">
            <a:solidFill>
              <a:srgbClr val="FDF3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0" y="2331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square(4)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 flipH="1">
            <a:off x="6035040" y="1737360"/>
            <a:ext cx="365760" cy="594360"/>
          </a:xfrm>
          <a:prstGeom prst="line">
            <a:avLst/>
          </a:prstGeom>
          <a:noFill/>
          <a:ln w="19050">
            <a:solidFill>
              <a:srgbClr val="5B627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949440" y="1737360"/>
            <a:ext cx="365760" cy="594360"/>
          </a:xfrm>
          <a:prstGeom prst="line">
            <a:avLst/>
          </a:prstGeom>
          <a:noFill/>
          <a:ln w="19050">
            <a:solidFill>
              <a:srgbClr val="5B6270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4846320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9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16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75120" y="3291840"/>
            <a:ext cx="0" cy="457200"/>
          </a:xfrm>
          <a:prstGeom prst="line">
            <a:avLst/>
          </a:prstGeom>
          <a:noFill/>
          <a:ln w="19050">
            <a:solidFill>
              <a:srgbClr val="5B627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760720" y="384048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760720" y="3840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8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+ 16 = 25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Grade Calculator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321040" y="384048"/>
            <a:ext cx="411480" cy="41148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21040" y="384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212080" cy="3703320"/>
          </a:xfrm>
          <a:prstGeom prst="roundRect">
            <a:avLst>
              <a:gd name="adj" fmla="val 1975"/>
            </a:avLst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115568"/>
            <a:ext cx="82296" cy="82296"/>
          </a:xfrm>
          <a:prstGeom prst="ellipse">
            <a:avLst/>
          </a:prstGeom>
          <a:solidFill>
            <a:srgbClr val="E0605E"/>
          </a:solidFill>
          <a:ln w="12700">
            <a:solidFill>
              <a:srgbClr val="E060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0664" y="1115568"/>
            <a:ext cx="82296" cy="82296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968" y="1115568"/>
            <a:ext cx="82296" cy="82296"/>
          </a:xfrm>
          <a:prstGeom prst="ellipse">
            <a:avLst/>
          </a:prstGeom>
          <a:solidFill>
            <a:srgbClr val="5CC08A"/>
          </a:solidFill>
          <a:ln w="12700">
            <a:solidFill>
              <a:srgbClr val="5CC0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280160"/>
            <a:ext cx="5029200" cy="335584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get_grade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7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"""Return grade based on marks."""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&gt;= </a:t>
            </a:r>
            <a:pPr indent="0" marL="0">
              <a:buNone/>
            </a:pPr>
            <a:r>
              <a:rPr lang="en-US" sz="105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5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7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&gt;= </a:t>
            </a:r>
            <a:pPr indent="0" marL="0">
              <a:buNone/>
            </a:pPr>
            <a:r>
              <a:rPr lang="en-US" sz="105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5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7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&gt;= </a:t>
            </a:r>
            <a:pPr indent="0" marL="0">
              <a:buNone/>
            </a:pPr>
            <a:r>
              <a:rPr lang="en-US" sz="105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5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7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&gt;= </a:t>
            </a:r>
            <a:pPr indent="0" marL="0">
              <a:buNone/>
            </a:pPr>
            <a:r>
              <a:rPr lang="en-US" sz="105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5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7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5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7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get_grade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7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f"{name}: {marks}, Grade {grade}"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7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"Meera"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7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"Suresh"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7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"Divya"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0" y="100584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3F4F7"/>
          </a:solidFill>
          <a:ln w="12700">
            <a:solidFill>
              <a:srgbClr val="D5D8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80760" y="10789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1298448"/>
            <a:ext cx="2560320" cy="96012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Meera: 92, Grade 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Suresh: 67, Grade 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Divya: 35, Grade F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used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292608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and arguments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return points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function calling another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Mistakes Students Make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321040" y="384048"/>
            <a:ext cx="411480" cy="41148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21040" y="384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786384"/>
          </a:xfrm>
          <a:prstGeom prst="roundRect">
            <a:avLst>
              <a:gd name="adj" fmla="val 9302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234440"/>
            <a:ext cx="365760" cy="365760"/>
          </a:xfrm>
          <a:prstGeom prst="ellipse">
            <a:avLst/>
          </a:prstGeom>
          <a:solidFill>
            <a:srgbClr val="C8414F"/>
          </a:solidFill>
          <a:ln w="12700">
            <a:solidFill>
              <a:srgbClr val="C841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051560"/>
            <a:ext cx="3246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parentheses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 refers to the function; greet() runs it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786384"/>
          </a:xfrm>
          <a:prstGeom prst="roundRect">
            <a:avLst>
              <a:gd name="adj" fmla="val 9302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234440"/>
            <a:ext cx="365760" cy="365760"/>
          </a:xfrm>
          <a:prstGeom prst="ellipse">
            <a:avLst/>
          </a:prstGeom>
          <a:solidFill>
            <a:srgbClr val="C8414F"/>
          </a:solidFill>
          <a:ln w="12700">
            <a:solidFill>
              <a:srgbClr val="C84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1051560"/>
            <a:ext cx="3246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colon or indent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def line → SyntaxError / IndentationError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1984248"/>
            <a:ext cx="4023360" cy="786384"/>
          </a:xfrm>
          <a:prstGeom prst="roundRect">
            <a:avLst>
              <a:gd name="adj" fmla="val 9302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167128"/>
            <a:ext cx="365760" cy="365760"/>
          </a:xfrm>
          <a:prstGeom prst="ellipse">
            <a:avLst/>
          </a:prstGeom>
          <a:solidFill>
            <a:srgbClr val="C8414F"/>
          </a:solidFill>
          <a:ln w="12700">
            <a:solidFill>
              <a:srgbClr val="C841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1984248"/>
            <a:ext cx="3246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before defining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raises a NameError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663440" y="1984248"/>
            <a:ext cx="4023360" cy="786384"/>
          </a:xfrm>
          <a:prstGeom prst="roundRect">
            <a:avLst>
              <a:gd name="adj" fmla="val 9302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2167128"/>
            <a:ext cx="365760" cy="365760"/>
          </a:xfrm>
          <a:prstGeom prst="ellipse">
            <a:avLst/>
          </a:prstGeom>
          <a:solidFill>
            <a:srgbClr val="C8414F"/>
          </a:solidFill>
          <a:ln w="12700">
            <a:solidFill>
              <a:srgbClr val="C841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00600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303520" y="1984248"/>
            <a:ext cx="3246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up print and return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becomes None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7200" y="2916936"/>
            <a:ext cx="4023360" cy="786384"/>
          </a:xfrm>
          <a:prstGeom prst="roundRect">
            <a:avLst>
              <a:gd name="adj" fmla="val 9302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3099816"/>
            <a:ext cx="365760" cy="365760"/>
          </a:xfrm>
          <a:prstGeom prst="ellipse">
            <a:avLst/>
          </a:prstGeom>
          <a:solidFill>
            <a:srgbClr val="C8414F"/>
          </a:solidFill>
          <a:ln w="12700">
            <a:solidFill>
              <a:srgbClr val="C8414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3099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2916936"/>
            <a:ext cx="3246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number of arguments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raises a TypeError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663440" y="2916936"/>
            <a:ext cx="4023360" cy="786384"/>
          </a:xfrm>
          <a:prstGeom prst="roundRect">
            <a:avLst>
              <a:gd name="adj" fmla="val 9302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3099816"/>
            <a:ext cx="365760" cy="365760"/>
          </a:xfrm>
          <a:prstGeom prst="ellipse">
            <a:avLst/>
          </a:prstGeom>
          <a:solidFill>
            <a:srgbClr val="C8414F"/>
          </a:solidFill>
          <a:ln w="12700">
            <a:solidFill>
              <a:srgbClr val="C841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00600" y="3099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303520" y="2916936"/>
            <a:ext cx="3246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before non-default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f(a=1, b): → SyntaxError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457200" y="3849624"/>
            <a:ext cx="4023360" cy="786384"/>
          </a:xfrm>
          <a:prstGeom prst="roundRect">
            <a:avLst>
              <a:gd name="adj" fmla="val 9302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4032504"/>
            <a:ext cx="365760" cy="365760"/>
          </a:xfrm>
          <a:prstGeom prst="ellipse">
            <a:avLst/>
          </a:prstGeom>
          <a:solidFill>
            <a:srgbClr val="C8414F"/>
          </a:solidFill>
          <a:ln w="12700">
            <a:solidFill>
              <a:srgbClr val="C8414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4360" y="4032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97280" y="3849624"/>
            <a:ext cx="3246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after return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executes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4663440" y="3849624"/>
            <a:ext cx="4023360" cy="786384"/>
          </a:xfrm>
          <a:prstGeom prst="roundRect">
            <a:avLst>
              <a:gd name="adj" fmla="val 9302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846320" y="3849624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error name. It usually tells you which mistake was made.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457200" cy="45720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453896"/>
            <a:ext cx="201168" cy="2011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12344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are defined with def and run by calling them with ()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663440" y="1325880"/>
            <a:ext cx="457200" cy="45720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1453896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303520" y="12344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appear in the definition; arguments are passed in the call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2468880"/>
            <a:ext cx="457200" cy="45720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596896"/>
            <a:ext cx="201168" cy="2011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97280" y="23774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sends a value back; without it a function returns None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663440" y="2468880"/>
            <a:ext cx="457200" cy="45720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2596896"/>
            <a:ext cx="201168" cy="20116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303520" y="23774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 can be positional, keyword, default, *args or **kwargs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457200" y="3611880"/>
            <a:ext cx="457200" cy="45720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" y="3739896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97280" y="35204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inside a function are local unless declared global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4663440" y="3611880"/>
            <a:ext cx="457200" cy="45720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1456" y="3739896"/>
            <a:ext cx="201168" cy="20116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303520" y="35204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Docstrings document what a function does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Exercises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321040" y="384048"/>
            <a:ext cx="411480" cy="41148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21040" y="384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560320" cy="3566160"/>
          </a:xfrm>
          <a:prstGeom prst="roundRect">
            <a:avLst>
              <a:gd name="adj" fmla="val 2857"/>
            </a:avLst>
          </a:prstGeom>
          <a:solidFill>
            <a:srgbClr val="FDF3DC"/>
          </a:solidFill>
          <a:ln w="12700">
            <a:solidFill>
              <a:srgbClr val="FDF3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88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320040" cy="320040"/>
          </a:xfrm>
          <a:prstGeom prst="ellipse">
            <a:avLst/>
          </a:prstGeom>
          <a:solidFill>
            <a:srgbClr val="9A6A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373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is_even(n): return True if n is even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97480"/>
            <a:ext cx="320040" cy="320040"/>
          </a:xfrm>
          <a:prstGeom prst="ellipse">
            <a:avLst/>
          </a:prstGeom>
          <a:solidFill>
            <a:srgbClr val="9A6A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6517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and perimeter of a rectangle (return both)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611880"/>
            <a:ext cx="320040" cy="320040"/>
          </a:xfrm>
          <a:prstGeom prst="ellipse">
            <a:avLst/>
          </a:prstGeom>
          <a:solidFill>
            <a:srgbClr val="9A6A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5661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celsius_to_fahrenheit(c) using F = (9/5)C + 32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91840" y="1051560"/>
            <a:ext cx="2560320" cy="3566160"/>
          </a:xfrm>
          <a:prstGeom prst="roundRect">
            <a:avLst>
              <a:gd name="adj" fmla="val 2857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74720" y="1188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1783080"/>
            <a:ext cx="320040" cy="320040"/>
          </a:xfrm>
          <a:prstGeom prst="ellipse">
            <a:avLst/>
          </a:prstGeom>
          <a:solidFill>
            <a:srgbClr val="1F8A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17373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factorial(n) using a loop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2697480"/>
            <a:ext cx="320040" cy="320040"/>
          </a:xfrm>
          <a:prstGeom prst="ellipse">
            <a:avLst/>
          </a:prstGeom>
          <a:solidFill>
            <a:srgbClr val="1F8A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931920" y="26517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count_vowels(s): number of vowels in a string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474720" y="3611880"/>
            <a:ext cx="320040" cy="320040"/>
          </a:xfrm>
          <a:prstGeom prst="ellipse">
            <a:avLst/>
          </a:prstGeom>
          <a:solidFill>
            <a:srgbClr val="1F8A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931920" y="35661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simple_interest(p, r, t=1) with default time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26480" y="1051560"/>
            <a:ext cx="2560320" cy="3566160"/>
          </a:xfrm>
          <a:prstGeom prst="roundRect">
            <a:avLst>
              <a:gd name="adj" fmla="val 2857"/>
            </a:avLst>
          </a:prstGeom>
          <a:solidFill>
            <a:srgbClr val="F9E4E6"/>
          </a:solidFill>
          <a:ln w="12700">
            <a:solidFill>
              <a:srgbClr val="F9E4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09360" y="1188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1783080"/>
            <a:ext cx="320040" cy="320040"/>
          </a:xfrm>
          <a:prstGeom prst="ellipse">
            <a:avLst/>
          </a:prstGeom>
          <a:solidFill>
            <a:srgbClr val="C841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766560" y="17373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average(*nums) for any number of values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2697480"/>
            <a:ext cx="320040" cy="320040"/>
          </a:xfrm>
          <a:prstGeom prst="ellipse">
            <a:avLst/>
          </a:prstGeom>
          <a:solidFill>
            <a:srgbClr val="C841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26517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is_prime(n), then print all primes from 1 to 100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3611880"/>
            <a:ext cx="320040" cy="320040"/>
          </a:xfrm>
          <a:prstGeom prst="ellipse">
            <a:avLst/>
          </a:prstGeom>
          <a:solidFill>
            <a:srgbClr val="C841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766560" y="35661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student details passed as **kwargs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Quiz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321040" y="384048"/>
            <a:ext cx="411480" cy="41148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21040" y="384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887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1887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print(f()) show if f has no return statement?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1887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303520" y="11887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a parameter and an argument?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468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468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valid?  Why or why not?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97280" y="2971800"/>
            <a:ext cx="3200400" cy="1508760"/>
          </a:xfrm>
          <a:prstGeom prst="roundRect">
            <a:avLst>
              <a:gd name="adj" fmla="val 3636"/>
            </a:avLst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43000" y="2990088"/>
            <a:ext cx="3108960" cy="147218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233172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468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303520" y="2468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print?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303520" y="2971800"/>
            <a:ext cx="3200400" cy="1508760"/>
          </a:xfrm>
          <a:prstGeom prst="roundRect">
            <a:avLst>
              <a:gd name="adj" fmla="val 3636"/>
            </a:avLst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49240" y="2990088"/>
            <a:ext cx="3108960" cy="147218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buNone/>
            </a:pPr>
            <a:r>
              <a:rPr lang="en-US" sz="13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7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"done"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Defining and Calling Functions</dc:title>
  <dc:subject>PptxGenJS Presentation</dc:subject>
  <dc:creator>PptxGenJS</dc:creator>
  <cp:lastModifiedBy>PptxGenJS</cp:lastModifiedBy>
  <cp:revision>1</cp:revision>
  <dcterms:created xsi:type="dcterms:W3CDTF">2026-09-24T04:47:11Z</dcterms:created>
  <dcterms:modified xsi:type="dcterms:W3CDTF">2026-09-24T04:47:11Z</dcterms:modified>
</cp:coreProperties>
</file>