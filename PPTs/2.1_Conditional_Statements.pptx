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22A36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22A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•  elif  •  else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Programming Fundamentals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Control Structures?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 program runs sequentially — one statement after another, top to bottom. Real-world problems need more than that: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age ≥ 18, allow login;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deny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33172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actions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asking for input until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number is entered.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2103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33172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path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grade of A, B, C,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 based on marks.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control structures, a program could only ever run one fixed sequence — regardless of input. Control structures alter the normal flow of execution based on conditions or repetition: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001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349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669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run in order (default behaviour)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51960" y="4892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34840" y="5001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5349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/ Decision-making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434840" y="5669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elif, else — choose which block runs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01000" y="4892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5001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5349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/ Looping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5669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 — repeat a block of code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CONDITIONAL STATEMENTS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 block of code only if a condition is true.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337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749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print("You are eligible to vote.")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10312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2194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4871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evaluate to a Boolean (True or False)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97180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3063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colon :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355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required at the end of the if 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84048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3931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224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which statements belong to the block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470916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0840" y="4800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False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5093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indented block is simply skipped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CONDITIONAL STATEMENTS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if-else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runs if the condition is true, a different block runs if it is false.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   # runs if True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   # runs if False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886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1605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2976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7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num % 2 == 0: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print("Even number")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print("Odd number")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0116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5875">
            <a:solidFill>
              <a:srgbClr val="2E8B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5603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holds. The if-block runs and the else-block is skipped entirely.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6576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7F0E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7A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42062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fails. The if-block is skipped and the else-block runs instead.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CONDITIONAL STATEMENTS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if-elif-else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multiple conditions top to bottom; runs the first True block. If none match, else runs.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28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condition1: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condition2: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condition3: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828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2103120"/>
            <a:ext cx="5669280" cy="2606040"/>
          </a:xfrm>
          <a:prstGeom prst="roundRect">
            <a:avLst>
              <a:gd name="adj" fmla="val 2807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240280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72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marks &gt;= 90: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A")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marks &gt;= 75: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B")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marks &gt;= 60: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C")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F")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89204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B3A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48920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→ Grade: C   (marks = 72 satisfies marks &gt;= 60)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any number of elif blocks are allowed, but only one if and at most one else.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CONDITIONAL STATEMENTS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Statements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statement placed inside another if (or else) block — used when a decision depends on another decision.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0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317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condition1: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condition2: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statement(s)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statement(s)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3317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15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num &gt; 0: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num % 2 == 0: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print("Positive Even")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print("Positive Odd")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print("Non-positive")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1B3A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4526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→ Positive Odd number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consistent indentation is critical — each nested level adds one indent step.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CONDITIONAL STATEMENTS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Short-Hand if &amp; Ternary Expression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80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SHORT-HAND if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276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simple, single-line conditions.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57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68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condition: statement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063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747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18: print("Adult")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(SHORT-HAND if-else)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if-else that returns a value directly.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33172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value_if_true if condition else value_if_false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4747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16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"Adult" if age &gt;= 18 else "Minor"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print(status)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4617720"/>
            <a:ext cx="11155680" cy="594360"/>
          </a:xfrm>
          <a:prstGeom prst="roundRect">
            <a:avLst>
              <a:gd name="adj" fmla="val 12308"/>
            </a:avLst>
          </a:prstGeom>
          <a:solidFill>
            <a:srgbClr val="1B3A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46177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→ Minor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CONDITIONAL STATEMENTS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with Conditions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conditions can be combined using and, or, and not.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condition1 and condition2: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condition1 or condition2: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condition: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statement(s)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4F5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citizen = True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 and citizen: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print("Eligible to vote")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B3A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36576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6576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if BOTH conditions are true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41605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B3A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41605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41605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AT LEAST ONE condition is true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4663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B3A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2200" y="4663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46634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the condition's boolean value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Watch For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74904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56616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338328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3749040" cy="685800"/>
          </a:xfrm>
          <a:prstGeom prst="rect">
            <a:avLst/>
          </a:prstGeom>
          <a:solidFill>
            <a:srgbClr val="F7F9FA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920240"/>
            <a:ext cx="3566160" cy="685800"/>
          </a:xfrm>
          <a:prstGeom prst="rect">
            <a:avLst/>
          </a:prstGeom>
          <a:solidFill>
            <a:srgbClr val="F7F9FA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920240"/>
            <a:ext cx="3383280" cy="685800"/>
          </a:xfrm>
          <a:prstGeom prst="rect">
            <a:avLst/>
          </a:prstGeom>
          <a:solidFill>
            <a:srgbClr val="F7F9FA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1920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= instead of ==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920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 5: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== 5: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606040"/>
            <a:ext cx="3749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2606040"/>
            <a:ext cx="35661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606040"/>
            <a:ext cx="3383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606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colon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&gt; 5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&gt; 5: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291840"/>
            <a:ext cx="3749040" cy="685800"/>
          </a:xfrm>
          <a:prstGeom prst="rect">
            <a:avLst/>
          </a:prstGeom>
          <a:solidFill>
            <a:srgbClr val="F7F9FA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291840"/>
            <a:ext cx="3566160" cy="685800"/>
          </a:xfrm>
          <a:prstGeom prst="rect">
            <a:avLst/>
          </a:prstGeom>
          <a:solidFill>
            <a:srgbClr val="F7F9FA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291840"/>
            <a:ext cx="3383280" cy="685800"/>
          </a:xfrm>
          <a:prstGeom prst="rect">
            <a:avLst/>
          </a:prstGeom>
          <a:solidFill>
            <a:srgbClr val="F7F9FA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291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indentation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3291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spaces/tabs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consistent 4-space indent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977640"/>
            <a:ext cx="3749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3977640"/>
            <a:ext cx="35661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977640"/>
            <a:ext cx="3383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else if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x &gt; 5: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977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x &gt; 5: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5532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Python uses indentation — not curly braces { } — to define blocks.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Problems for Students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435608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143560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to check if a number is positive, negative, or zero.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2350008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35000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to find the largest of three numbers using nested if.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3264408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63040" y="326440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voting eligibility (age ≥ 18 and citizen) using logical operators.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4440" y="4178808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63040" y="417880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grades based on marks using if-elif-else.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5074920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34440" y="5093208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7F9FA"/>
          </a:solidFill>
          <a:ln w="12700">
            <a:solidFill>
              <a:srgbClr val="E2E8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63040" y="509320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Problem 1 using the short-hand ternary conditional expression.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and Problem Solving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155680" cy="658368"/>
          </a:xfrm>
          <a:prstGeom prst="rect">
            <a:avLst/>
          </a:prstGeom>
          <a:solidFill>
            <a:srgbClr val="F7F9FA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2834640" cy="658368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3716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371600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condition check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11155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21408"/>
            <a:ext cx="2834640" cy="658368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1214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if-else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2140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possible outcomes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871216"/>
            <a:ext cx="11155680" cy="658368"/>
          </a:xfrm>
          <a:prstGeom prst="rect">
            <a:avLst/>
          </a:prstGeom>
          <a:solidFill>
            <a:srgbClr val="F7F9FA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871216"/>
            <a:ext cx="2834640" cy="658368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28712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if-elif-else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871216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possible outcomes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3621024"/>
            <a:ext cx="11155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621024"/>
            <a:ext cx="2834640" cy="658368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362102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if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621024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depends on another decision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4370832"/>
            <a:ext cx="11155680" cy="658368"/>
          </a:xfrm>
          <a:prstGeom prst="rect">
            <a:avLst/>
          </a:prstGeom>
          <a:solidFill>
            <a:srgbClr val="F7F9FA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370832"/>
            <a:ext cx="2834640" cy="658368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43708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Short-hand if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370832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 simple condition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02920" y="5120640"/>
            <a:ext cx="11155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120640"/>
            <a:ext cx="2834640" cy="658368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" y="51206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Ternary expression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5120640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value assignment based on condition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099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Loops — for and while statements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2026-08-27T06:56:11Z</dcterms:created>
  <dcterms:modified xsi:type="dcterms:W3CDTF">2026-08-27T06:56:11Z</dcterms:modified>
</cp:coreProperties>
</file>