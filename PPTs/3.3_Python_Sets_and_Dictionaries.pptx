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new collection types. Students already know lists; today they learn two more ways to store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bag of unique stickers. You can check whether a sticker is in the bag, but they are not lined up in any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type({}) versus type(set()) live in the shell. This is the most common beginner mistake with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an item that already exists does nothing. Contrast remove() and discard() by removing a missing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an item at a position? Convert first: sorted(fruits)[0].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Venn diagram on the board for a and b. Point out that a - b and b - a give different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of thumb: use a list when order or duplicates matter, a set when you only care whether something is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a real dictionary: look up a word (key) to find its meaning (value). Values are reached by key, not by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can also be lists or other dictionaries, e.g. a classroom with a list of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syntax d[key] = value adds a new key or updates an existing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90 in marks is False because in checks keys; 90 in marks.values()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practice exercises from the lesson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42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4627"/>
            <a:ext cx="10566400" cy="41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42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4627"/>
            <a:ext cx="10566400" cy="41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159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4892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 &amp; Dictionaries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Python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434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D0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beginner’s guide to storing unique items and key–value data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05693"/>
            <a:ext cx="10883392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00" kern="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93364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96664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a set is · creating · storing and retrieving · operations · set vs list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 set?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8"/>
            <a:ext cx="10883392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set is a collection of </a:t>
            </a:r>
            <a:r>
              <a:rPr lang="en-US" sz="22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unique</a:t>
            </a:r>
            <a:r>
              <a:rPr lang="en-US" sz="2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items with </a:t>
            </a:r>
            <a:r>
              <a:rPr lang="en-US" sz="22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fixed order</a:t>
            </a:r>
            <a:r>
              <a:rPr lang="en-US" sz="2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2555787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644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Unordered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644" y="3081469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position, so no index like s[0]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8375" y="2555787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40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4045" y="3081469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Duplicates are removed automatically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2555787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64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6445" y="3081469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 can add or remove items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3175" y="2555787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8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Fixed items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845" y="3081469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Numbers, strings, tuples — not lists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092884"/>
            <a:ext cx="10566400" cy="939800"/>
          </a:xfrm>
          <a:prstGeom prst="roundRect">
            <a:avLst>
              <a:gd name="adj" fmla="val 10811"/>
            </a:avLst>
          </a:prstGeom>
          <a:solidFill>
            <a:srgbClr val="14213D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fruits = {"apple", "mango", "apple"}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{'apple', 'mango'} duplicate removed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58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36766" y="6238258"/>
            <a:ext cx="14243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to create a 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8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Syntax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230041"/>
            <a:ext cx="5181600" cy="1361414"/>
          </a:xfrm>
          <a:prstGeom prst="roundRect">
            <a:avLst>
              <a:gd name="adj" fmla="val 7463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set_name = {item1, item2, item3}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set_name = set(iterable)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empty_set = set()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97600" y="1884628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7600" y="2230041"/>
            <a:ext cx="5181600" cy="1930356"/>
          </a:xfrm>
          <a:prstGeom prst="roundRect">
            <a:avLst>
              <a:gd name="adj" fmla="val 5263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fruits = {"apple", "mango"}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nums = {1, 2, 2, 3}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{1, 2, 3}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marks = set([90, 85, 90])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{90, 85}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465197"/>
            <a:ext cx="10566400" cy="589271"/>
          </a:xfrm>
          <a:prstGeom prst="roundRect">
            <a:avLst>
              <a:gd name="adj" fmla="val 17242"/>
            </a:avLst>
          </a:prstGeom>
          <a:solidFill>
            <a:srgbClr val="FBE3D3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Watch out: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{ }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makes an empty </a:t>
            </a: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dictionary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not a set. Use </a:t>
            </a: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set()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58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33724" y="6238258"/>
            <a:ext cx="14547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Adding and removing items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80000"/>
          <a:ext cx="10566400" cy="2692312"/>
        </p:xfrm>
        <a:graphic>
          <a:graphicData uri="http://schemas.openxmlformats.org/drawingml/2006/table">
            <a:tbl>
              <a:tblPr/>
              <a:tblGrid>
                <a:gridCol w="1500000"/>
                <a:gridCol w="2650000"/>
                <a:gridCol w="3500000"/>
                <a:gridCol w="2916400"/>
              </a:tblGrid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Method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What it does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Example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Explanation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add(x)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Adds one item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colors.add("blue")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No effect if "blue" is already there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update(list)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Adds many items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colors.update(["pink", "gold"])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Adds each list item separately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remove(x)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Removes x; error if missing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colors.remove("red")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KeyError if "red" is missing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discard(x)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Removes x; no error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colors.discard("purple")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 missing item is ignored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Removes a random item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 = colors.pop()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Returns the removed item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clear()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Empties the set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colors.clear()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Leaves an empty set: set()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58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37868" y="6238258"/>
            <a:ext cx="1413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Examples caption"/>
          <p:cNvSpPr/>
          <p:nvPr/>
        </p:nvSpPr>
        <p:spPr>
          <a:xfrm>
            <a:off x="812800" y="1884626"/>
            <a:ext cx="10566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 xml:space="preserve">Examples start from  </a:t>
            </a: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 xml:space="preserve">colors = {"red", "green"}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Retrieving data from a 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6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 have </a:t>
            </a:r>
            <a:r>
              <a:rPr lang="en-US" sz="20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index</a:t>
            </a: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Check, loop or count instead.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5975" y="2522801"/>
            <a:ext cx="3380317" cy="1351095"/>
          </a:xfrm>
          <a:prstGeom prst="roundRect">
            <a:avLst>
              <a:gd name="adj" fmla="val 7285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644" y="2728472"/>
            <a:ext cx="30580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1. Check membership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644" y="3099287"/>
            <a:ext cx="3058047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"apple" in fruits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2522801"/>
            <a:ext cx="3380317" cy="1351095"/>
          </a:xfrm>
          <a:prstGeom prst="roundRect">
            <a:avLst>
              <a:gd name="adj" fmla="val 7285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511" y="2728472"/>
            <a:ext cx="30580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2. Loop through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1511" y="3099287"/>
            <a:ext cx="3058047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f in fruits: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print(f)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08" y="2522801"/>
            <a:ext cx="3380317" cy="1351095"/>
          </a:xfrm>
          <a:prstGeom prst="roundRect">
            <a:avLst>
              <a:gd name="adj" fmla="val 7285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1378" y="2728472"/>
            <a:ext cx="305804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 Count items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01378" y="3099287"/>
            <a:ext cx="3058047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len(fruits)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181872"/>
            <a:ext cx="10566400" cy="589271"/>
          </a:xfrm>
          <a:prstGeom prst="roundRect">
            <a:avLst>
              <a:gd name="adj" fmla="val 17242"/>
            </a:avLst>
          </a:prstGeom>
          <a:solidFill>
            <a:srgbClr val="FBE3D3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fruits[0]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gives </a:t>
            </a: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TypeError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a set is not subscriptable.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36502" y="6238258"/>
            <a:ext cx="14269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826"/>
            <a:ext cx="10566400" cy="57150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{1, 2, 3, 4}     b = {3, 4, 5, 6}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670615"/>
          <a:ext cx="10555111" cy="1923080"/>
        </p:xfrm>
        <a:graphic>
          <a:graphicData uri="http://schemas.openxmlformats.org/drawingml/2006/table">
            <a:tbl>
              <a:tblPr/>
              <a:tblGrid>
                <a:gridCol w="2533227"/>
                <a:gridCol w="1266613"/>
                <a:gridCol w="3588738"/>
                <a:gridCol w="3166533"/>
              </a:tblGrid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Operation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Operator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Method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Result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Union (all items)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 | b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a.union(b)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{1, 2, 3, 4, 5, 6}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Intersection (common)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 &amp; b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a.intersection(b)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{3, 4}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Difference (only in a)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 - b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a.difference(b)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{1, 2}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Symmetric difference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 ^ b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a.symmetric_difference(b)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{1, 2, 5, 6}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847695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Also:</a:t>
            </a: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a.issubset(b) · a.issuperset(b) · a.isdisjoint(b)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58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50216" y="6238258"/>
            <a:ext cx="12898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 vs list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895915"/>
          <a:ext cx="10555111" cy="3290711"/>
        </p:xfrm>
        <a:graphic>
          <a:graphicData uri="http://schemas.openxmlformats.org/drawingml/2006/table">
            <a:tbl>
              <a:tblPr/>
              <a:tblGrid>
                <a:gridCol w="5277556"/>
                <a:gridCol w="5277556"/>
              </a:tblGrid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List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Set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Square brackets: [1, 2, 3]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Curly braces: {1, 2, 3}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Ordered — items keep their position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Unordered — no fixed position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Allows duplicates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No duplicates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Indexing works: x[0]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No indexing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Can hold any item, even lists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Only fixed items (numbers, strings, tuples)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Slow search in big data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Very fast search with in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 list: []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 set: set()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61"/>
            <a:ext cx="17468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Sets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31430" y="6238261"/>
            <a:ext cx="14777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05695"/>
            <a:ext cx="10883392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00" kern="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93361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Dictionaries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9666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BF3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a dictionary is · creating · storing and retrieving · operations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 dictionary?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9"/>
            <a:ext cx="10883392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dictionary stores data as </a:t>
            </a:r>
            <a:r>
              <a:rPr lang="en-US" sz="22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: value</a:t>
            </a:r>
            <a:r>
              <a:rPr lang="en-US" sz="22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pairs, like a phone contact list.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2555788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644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Pairs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644" y="3081468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Each key maps to one value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8375" y="2555788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40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Unique keys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4045" y="3081468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Same key again overwrites the 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2555788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64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Any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6445" y="3081468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Keys are fixed; values can be anything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3175" y="2555788"/>
            <a:ext cx="2482850" cy="1229122"/>
          </a:xfrm>
          <a:prstGeom prst="roundRect">
            <a:avLst>
              <a:gd name="adj" fmla="val 8008"/>
            </a:avLst>
          </a:prstGeom>
          <a:solidFill>
            <a:srgbClr val="FFFDF8"/>
          </a:solidFill>
          <a:ln w="6350">
            <a:solidFill>
              <a:srgbClr val="E2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845" y="2761456"/>
            <a:ext cx="213365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Mutable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845" y="3081468"/>
            <a:ext cx="2133656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Add, change and delete pairs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092885"/>
            <a:ext cx="10566400" cy="939800"/>
          </a:xfrm>
          <a:prstGeom prst="roundRect">
            <a:avLst>
              <a:gd name="adj" fmla="val 10811"/>
            </a:avLst>
          </a:prstGeom>
          <a:solidFill>
            <a:srgbClr val="14213D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 = {"name": "Asha", "age": 15}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           key    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61"/>
            <a:ext cx="237966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Dictionaries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66387" y="6238261"/>
            <a:ext cx="21281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to create a dictionary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9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Syntax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230041"/>
            <a:ext cx="5181600" cy="1828712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dict_name = {key1: value1,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key2: value2}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dict_name = dict(key1=value1,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key2=value2)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empty_dict = {}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7600" y="1884629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7600" y="2230041"/>
            <a:ext cx="5181600" cy="1828712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 = {"name": "Asha",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"age": 15}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 = dict(brand="Tata",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year=2024)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empty = {}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363554"/>
            <a:ext cx="10566400" cy="589271"/>
          </a:xfrm>
          <a:prstGeom prst="roundRect">
            <a:avLst>
              <a:gd name="adj" fmla="val 17242"/>
            </a:avLst>
          </a:prstGeom>
          <a:solidFill>
            <a:srgbClr val="FBE3D3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Remember: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 repeated key keeps only its last value — </a:t>
            </a: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{"a": 1, "a": 2}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becomes </a:t>
            </a: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{"a": 2}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61"/>
            <a:ext cx="237966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Dictionaries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97916" y="6238261"/>
            <a:ext cx="18128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Storing and retrieving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9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Store: d[key] = value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230041"/>
            <a:ext cx="5181600" cy="1564569"/>
          </a:xfrm>
          <a:prstGeom prst="roundRect">
            <a:avLst>
              <a:gd name="adj" fmla="val 6494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{"name": "Asha"}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s["age"] = 15   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add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s["age"] = 16   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update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s.update({"city": "Mangaluru"})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7600" y="1884629"/>
            <a:ext cx="533704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Retrieve: d[key] or get()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7600" y="2230041"/>
            <a:ext cx="5181600" cy="1564569"/>
          </a:xfrm>
          <a:prstGeom prst="roundRect">
            <a:avLst>
              <a:gd name="adj" fmla="val 6494"/>
            </a:avLst>
          </a:prstGeom>
          <a:solidFill>
            <a:srgbClr val="14213D"/>
          </a:solidFill>
          <a:ln/>
        </p:spPr>
        <p:txBody>
          <a:bodyPr wrap="square" lIns="224242" tIns="224242" rIns="84034" bIns="1988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s["name"]        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'Asha'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s["marks"]       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KeyError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s.get("marks")   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None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s.get("marks", 0)</a:t>
            </a:r>
            <a:r>
              <a:rPr lang="en-US" sz="1300" dirty="0">
                <a:solidFill>
                  <a:srgbClr val="8FA6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099409"/>
            <a:ext cx="10566400" cy="589271"/>
          </a:xfrm>
          <a:prstGeom prst="roundRect">
            <a:avLst>
              <a:gd name="adj" fmla="val 17242"/>
            </a:avLst>
          </a:prstGeom>
          <a:solidFill>
            <a:srgbClr val="FBE3D3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Tip: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use </a:t>
            </a:r>
            <a:r>
              <a:rPr lang="en-US" sz="1600" dirty="0">
                <a:solidFill>
                  <a:srgbClr val="9A341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get()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when a key might be missing — the program won’t crash.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61"/>
            <a:ext cx="237966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Dictionaries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73707" y="6238261"/>
            <a:ext cx="20549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Dictionary operations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80000"/>
          <a:ext cx="10566400" cy="3221434"/>
        </p:xfrm>
        <a:graphic>
          <a:graphicData uri="http://schemas.openxmlformats.org/drawingml/2006/table">
            <a:tbl>
              <a:tblPr/>
              <a:tblGrid>
                <a:gridCol w="1500000"/>
                <a:gridCol w="2400000"/>
                <a:gridCol w="3300000"/>
                <a:gridCol w="3366400"/>
              </a:tblGrid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Operation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What it does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Example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Description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del d[k]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Deletes a pair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del marks["maths"]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Removes the key and its value; KeyError if missing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d.pop(k)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Deletes and returns value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 = marks.pop("science")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 is 85, and the pair is removed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d.clear()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Empties the dictionary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marks.clear()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marks becomes {}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d.keys()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All keys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list(marks.keys())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['maths', 'science']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d.values()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All values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sum(marks.values())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175 (adds up all the values)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d.items()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All key–value pairs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for sub, m in marks.items(): print(sub, m)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Loops over each pair: ('maths', 90), ('science', 85)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k in d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Checks keys (not values)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"maths" in marks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True, but 90 in marks is False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len(d)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Number of pairs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len(marks)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61"/>
            <a:ext cx="237966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Dictionaries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71546" y="6238261"/>
            <a:ext cx="20765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Examples caption"/>
          <p:cNvSpPr/>
          <p:nvPr/>
        </p:nvSpPr>
        <p:spPr>
          <a:xfrm>
            <a:off x="812800" y="1884626"/>
            <a:ext cx="105664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 xml:space="preserve">Examples use  </a:t>
            </a: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 xml:space="preserve">marks = {"maths": 90, "science": 85}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 vs dictionary at a glance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895918"/>
          <a:ext cx="10555111" cy="2879372"/>
        </p:xfrm>
        <a:graphic>
          <a:graphicData uri="http://schemas.openxmlformats.org/drawingml/2006/table">
            <a:tbl>
              <a:tblPr/>
              <a:tblGrid>
                <a:gridCol w="2322124"/>
                <a:gridCol w="4116493"/>
                <a:gridCol w="4116493"/>
              </a:tblGrid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Set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Dictionary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Stores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Unique values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Key : value pairs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Syntax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{1, 2, 3}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{"a": 1, "b": 2}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set()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{} or dict()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add(), update()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d[key] = value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Access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in, loop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d[key], d.get(key)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Best for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Uniqueness, fast checks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Looking up by a label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61"/>
            <a:ext cx="189849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Recap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68504" y="6238261"/>
            <a:ext cx="21069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Common beginner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1653" y="1884629"/>
            <a:ext cx="10876919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5147" indent="-255147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E8ED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Writing {} and expecting an empty set — it is a dictionary</a:t>
            </a:r>
            <a:endParaRPr lang="en-US" sz="1800" dirty="0"/>
          </a:p>
          <a:p>
            <a:pPr algn="l" marL="255147" indent="-255147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E8ED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Using my_set[0] — sets have no index</a:t>
            </a:r>
            <a:endParaRPr lang="en-US" sz="1800" dirty="0"/>
          </a:p>
          <a:p>
            <a:pPr algn="l" marL="255147" indent="-255147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E8ED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Putting a list inside a set or using it as a dict key</a:t>
            </a:r>
            <a:endParaRPr lang="en-US" sz="1800" dirty="0"/>
          </a:p>
          <a:p>
            <a:pPr algn="l" marL="255147" indent="-255147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E8ED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Using d[key] for a key that may not exist — use get()</a:t>
            </a:r>
            <a:endParaRPr lang="en-US" sz="1800" dirty="0"/>
          </a:p>
          <a:p>
            <a:pPr algn="l" marL="255147" indent="-255147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E8ED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Expecting x in d to search values — it checks keys only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61"/>
            <a:ext cx="189849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Basics · 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2605" y="6238261"/>
            <a:ext cx="20659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0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Sets and Dictionaries">
  <a:themeElements>
    <a:clrScheme name="Python Sets and Dictionaries">
      <a:dk1>
        <a:srgbClr val="14213D"/>
      </a:dk1>
      <a:lt1>
        <a:srgbClr val="F7F5EF"/>
      </a:lt1>
      <a:dk2>
        <a:srgbClr val="4D566A"/>
      </a:dk2>
      <a:lt2>
        <a:srgbClr val="E0E0DD"/>
      </a:lt2>
      <a:accent1>
        <a:srgbClr val="5B6B82"/>
      </a:accent1>
      <a:accent2>
        <a:srgbClr val="C2410C"/>
      </a:accent2>
      <a:accent3>
        <a:srgbClr val="FBE3D3"/>
      </a:accent3>
      <a:accent4>
        <a:srgbClr val="F2A541"/>
      </a:accent4>
      <a:accent5>
        <a:srgbClr val="4A5568"/>
      </a:accent5>
      <a:accent6>
        <a:srgbClr val="BFD0E4"/>
      </a:accent6>
      <a:hlink>
        <a:srgbClr val="0563C1"/>
      </a:hlink>
      <a:folHlink>
        <a:srgbClr val="954F72"/>
      </a:folHlink>
    </a:clrScheme>
    <a:fontScheme name="Python Sets and Dictionaries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Sets and Dictionaries</dc:title>
  <dc:subject/>
  <dc:creator/>
  <cp:lastModifiedBy/>
  <cp:revision>1</cp:revision>
  <dcterms:created xsi:type="dcterms:W3CDTF">2026-10-16T14:17:50Z</dcterms:created>
  <dcterms:modified xsi:type="dcterms:W3CDTF">2026-10-16T14:17:50Z</dcterms:modified>
</cp:coreProperties>
</file>