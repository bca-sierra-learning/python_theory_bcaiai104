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the end of the lesson students can create tuples, read data from them, slice them, work with nested tuples, and solve medium-level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tuples for data that should not change: days of the week, RGB colours, coordinates, date of birth.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type(a) and type(b) live. Almost every student expects (5) to be a tuple.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colors = colors + (...) creates a brand-new tuple and points the name at it. The old tuple is not modified.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students: what is days[-7]? (Mon) What is days[len(days) - 1]? (Sun)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that *rest always becomes a list, even when unpacking a tuple.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Slicing always returns a new tuple. Have students predict each result before revealing.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matrix on the board and ask students for matrix[0][2], matrix[2][0] and matrix[-1][-1].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10 to 15 minutes per exercise. Full problem statements and expected output are in the notes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solutions for all five exercises are in the Word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D43B"/>
                </a:solidFill>
                <a:latin typeface="Calibri"/>
              </a:rPr>
              <a:t>PYTHON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029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Python Tuples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EF2F5"/>
                </a:solidFill>
                <a:latin typeface="Calibri"/>
              </a:rPr>
              <a:t>Creating, accessing, slicing and nesting tuples, with practice exercises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18872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32588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days = ("Mon", "Tue")</a:t>
            </a:r>
          </a:p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print(days[0])</a:t>
            </a:r>
          </a:p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 </a:t>
            </a:r>
          </a:p>
          <a:p>
            <a:pPr algn="l"/>
            <a:r>
              <a:rPr sz="1400" b="0" i="0">
                <a:solidFill>
                  <a:srgbClr val="98C379"/>
                </a:solidFill>
                <a:latin typeface="Courier New"/>
              </a:rPr>
              <a:t># Mon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What Is a Tuple?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B2430"/>
                </a:solidFill>
                <a:latin typeface="Calibri"/>
              </a:rPr>
              <a:t>A tuple is an </a:t>
            </a:r>
            <a:r>
              <a:rPr sz="1800" b="1" i="0">
                <a:solidFill>
                  <a:srgbClr val="1B2430"/>
                </a:solidFill>
                <a:latin typeface="Calibri"/>
              </a:rPr>
              <a:t>ordered</a:t>
            </a:r>
            <a:r>
              <a:rPr sz="1800" b="0" i="0">
                <a:solidFill>
                  <a:srgbClr val="1B2430"/>
                </a:solidFill>
                <a:latin typeface="Calibri"/>
              </a:rPr>
              <a:t> collection written in </a:t>
            </a:r>
            <a:r>
              <a:rPr sz="1800" b="1" i="0">
                <a:solidFill>
                  <a:srgbClr val="1B2430"/>
                </a:solidFill>
                <a:latin typeface="Courier New"/>
              </a:rPr>
              <a:t>( )</a:t>
            </a:r>
            <a:r>
              <a:rPr sz="1800" b="0" i="0">
                <a:solidFill>
                  <a:srgbClr val="1B2430"/>
                </a:solidFill>
                <a:latin typeface="Calibri"/>
              </a:rPr>
              <a:t> that </a:t>
            </a:r>
            <a:r>
              <a:rPr sz="1800" b="1" i="0">
                <a:solidFill>
                  <a:srgbClr val="D9822B"/>
                </a:solidFill>
                <a:latin typeface="Calibri"/>
              </a:rPr>
              <a:t>cannot be changed</a:t>
            </a:r>
            <a:r>
              <a:rPr sz="1800" b="0" i="0">
                <a:solidFill>
                  <a:srgbClr val="1B2430"/>
                </a:solidFill>
                <a:latin typeface="Calibri"/>
              </a:rPr>
              <a:t> after it is created.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488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65760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marks = (85, 90, 78)</a:t>
            </a:r>
          </a:p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print(type(marks))</a:t>
            </a:r>
          </a:p>
          <a:p>
            <a:pPr algn="l"/>
            <a:r>
              <a:rPr sz="1400" b="0" i="0">
                <a:solidFill>
                  <a:srgbClr val="98C379"/>
                </a:solidFill>
                <a:latin typeface="Courier New"/>
              </a:rPr>
              <a:t># &lt;class 'tuple'&gt;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4023360" cy="118872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930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06998"/>
                </a:solidFill>
                <a:latin typeface="Calibri"/>
              </a:rPr>
              <a:t>Analogy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94760"/>
            <a:ext cx="3611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A list is a notebook written in pencil. A tuple is a printed certificate: once printed, it stays as it 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097280"/>
            <a:ext cx="3931920" cy="5943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92040" y="1207007"/>
            <a:ext cx="365760" cy="365760"/>
          </a:xfrm>
          <a:prstGeom prst="ellipse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25272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430"/>
                </a:solidFill>
                <a:latin typeface="Calibri"/>
              </a:rPr>
              <a:t>Ordered  </a:t>
            </a:r>
            <a:r>
              <a:rPr sz="1400" b="0" i="0">
                <a:solidFill>
                  <a:srgbClr val="6C7A89"/>
                </a:solidFill>
                <a:latin typeface="Calibri"/>
              </a:rPr>
              <a:t>Each item has an index from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801368"/>
            <a:ext cx="3931920" cy="5943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92040" y="1911095"/>
            <a:ext cx="365760" cy="36576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95681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430"/>
                </a:solidFill>
                <a:latin typeface="Calibri"/>
              </a:rPr>
              <a:t>Immutable  </a:t>
            </a:r>
            <a:r>
              <a:rPr sz="1400" b="0" i="0">
                <a:solidFill>
                  <a:srgbClr val="6C7A89"/>
                </a:solidFill>
                <a:latin typeface="Calibri"/>
              </a:rPr>
              <a:t>No adding, removing or changing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505456"/>
            <a:ext cx="3931920" cy="5943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40" y="2615184"/>
            <a:ext cx="365760" cy="365760"/>
          </a:xfrm>
          <a:prstGeom prst="ellipse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66090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430"/>
                </a:solidFill>
                <a:latin typeface="Calibri"/>
              </a:rPr>
              <a:t>Duplicates allowed  </a:t>
            </a:r>
            <a:r>
              <a:rPr sz="1400" b="0" i="0">
                <a:solidFill>
                  <a:srgbClr val="6C7A89"/>
                </a:solidFill>
                <a:latin typeface="Calibri"/>
              </a:rPr>
              <a:t>The same value can repeat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209544"/>
            <a:ext cx="3931920" cy="5943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92040" y="3319272"/>
            <a:ext cx="365760" cy="365760"/>
          </a:xfrm>
          <a:prstGeom prst="ellipse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364991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430"/>
                </a:solidFill>
                <a:latin typeface="Calibri"/>
              </a:rPr>
              <a:t>Heterogeneous  </a:t>
            </a:r>
            <a:r>
              <a:rPr sz="1400" b="0" i="0">
                <a:solidFill>
                  <a:srgbClr val="6C7A89"/>
                </a:solidFill>
                <a:latin typeface="Calibri"/>
              </a:rPr>
              <a:t>Mix int, str, float, bool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913632"/>
            <a:ext cx="3931920" cy="5943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92040" y="4023360"/>
            <a:ext cx="365760" cy="365760"/>
          </a:xfrm>
          <a:prstGeom prst="ellipse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0690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430"/>
                </a:solidFill>
                <a:latin typeface="Calibri"/>
              </a:rPr>
              <a:t>Nestable  </a:t>
            </a:r>
            <a:r>
              <a:rPr sz="1400" b="0" i="0">
                <a:solidFill>
                  <a:srgbClr val="6C7A89"/>
                </a:solidFill>
                <a:latin typeface="Calibri"/>
              </a:rPr>
              <a:t>Can hold other tuples or lists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Creating a Tuple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457200"/>
          </a:xfrm>
          <a:prstGeom prst="roundRect">
            <a:avLst>
              <a:gd name="adj" fmla="val 15000"/>
            </a:avLst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D43B"/>
                </a:solidFill>
                <a:latin typeface="Calibri"/>
              </a:rPr>
              <a:t>tuple_name = (item1, item2, ...)    or    tuple(iterable)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029200" cy="278892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66344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marks = (85, 90, 78)</a:t>
            </a:r>
          </a:p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student = ("Ravi", 16, 89.5, True)</a:t>
            </a:r>
          </a:p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point = 3, 4              </a:t>
            </a:r>
            <a:r>
              <a:rPr sz="1400" b="0" i="0">
                <a:solidFill>
                  <a:srgbClr val="98C379"/>
                </a:solidFill>
                <a:latin typeface="Courier New"/>
              </a:rPr>
              <a:t># packing: (3, 4)</a:t>
            </a:r>
          </a:p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empty = ()                </a:t>
            </a:r>
            <a:r>
              <a:rPr sz="1400" b="0" i="0">
                <a:solidFill>
                  <a:srgbClr val="98C379"/>
                </a:solidFill>
                <a:latin typeface="Courier New"/>
              </a:rPr>
              <a:t># or tuple()</a:t>
            </a:r>
          </a:p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letters = tuple("abc")    </a:t>
            </a:r>
            <a:r>
              <a:rPr sz="1400" b="0" i="0">
                <a:solidFill>
                  <a:srgbClr val="98C379"/>
                </a:solidFill>
                <a:latin typeface="Courier New"/>
              </a:rPr>
              <a:t># ('a', 'b', 'c')</a:t>
            </a:r>
          </a:p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nums = tuple([1, 2, 3])   </a:t>
            </a:r>
            <a:r>
              <a:rPr sz="1400" b="0" i="0">
                <a:solidFill>
                  <a:srgbClr val="98C379"/>
                </a:solidFill>
                <a:latin typeface="Courier New"/>
              </a:rPr>
              <a:t># (1, 2, 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783080"/>
            <a:ext cx="2926080" cy="278892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822B"/>
                </a:solidFill>
                <a:latin typeface="Calibri"/>
              </a:rPr>
              <a:t>The single-item trap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331720"/>
            <a:ext cx="2560320" cy="77724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468879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a = (5)    </a:t>
            </a:r>
            <a:r>
              <a:rPr sz="1300" b="0" i="0">
                <a:solidFill>
                  <a:srgbClr val="98C379"/>
                </a:solidFill>
                <a:latin typeface="Courier New"/>
              </a:rPr>
              <a:t># int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b = (5,)   </a:t>
            </a:r>
            <a:r>
              <a:rPr sz="1300" b="0" i="0">
                <a:solidFill>
                  <a:srgbClr val="98C379"/>
                </a:solidFill>
                <a:latin typeface="Courier New"/>
              </a:rPr>
              <a:t># tuple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29184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2430"/>
                </a:solidFill>
                <a:latin typeface="Calibri"/>
              </a:rPr>
              <a:t>The comma makes a tuple, not the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Storing Data: Set Once, Then Fixed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7A89"/>
                </a:solidFill>
                <a:latin typeface="Calibri"/>
              </a:rPr>
              <a:t>Data is stored when the tuple is created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023360" cy="141732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657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days = ("Mon", "Tue", "Wed")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days[0] = "Monday"</a:t>
            </a:r>
          </a:p>
          <a:p>
            <a:pPr algn="l"/>
            <a:r>
              <a:rPr sz="1300" b="0" i="0">
                <a:solidFill>
                  <a:srgbClr val="98C379"/>
                </a:solidFill>
                <a:latin typeface="Courier New"/>
              </a:rPr>
              <a:t># TypeError: 'tuple' object does</a:t>
            </a:r>
          </a:p>
          <a:p>
            <a:pPr algn="l"/>
            <a:r>
              <a:rPr sz="1300" b="0" i="0">
                <a:solidFill>
                  <a:srgbClr val="98C379"/>
                </a:solidFill>
                <a:latin typeface="Courier New"/>
              </a:rPr>
              <a:t># not support item assignment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4023360" cy="155448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06998"/>
                </a:solidFill>
                <a:latin typeface="Calibri"/>
              </a:rPr>
              <a:t>Why immutable is useful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3611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Protects data that must not change by mistake. Tuples are also slightly faster and smaller than lists.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Calibri"/>
              </a:rPr>
              <a:t>Need a change? Build a new tuple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371600"/>
            <a:ext cx="3931920" cy="320040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508760"/>
            <a:ext cx="3566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colors = ("red", "green")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colors = colors + ("blue",)</a:t>
            </a:r>
          </a:p>
          <a:p>
            <a:pPr algn="l"/>
            <a:r>
              <a:rPr sz="1300" b="0" i="0">
                <a:solidFill>
                  <a:srgbClr val="98C379"/>
                </a:solidFill>
                <a:latin typeface="Courier New"/>
              </a:rPr>
              <a:t># ('red', 'green', 'blue')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temp = list(colors)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temp[0] = "yellow"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colors = tuple(temp)</a:t>
            </a:r>
          </a:p>
          <a:p>
            <a:pPr algn="l"/>
            <a:r>
              <a:rPr sz="1300" b="0" i="0">
                <a:solidFill>
                  <a:srgbClr val="98C379"/>
                </a:solidFill>
                <a:latin typeface="Courier New"/>
              </a:rPr>
              <a:t># ('yellow', 'green', 'blue')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Retrieving Data by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06998"/>
                </a:solidFill>
                <a:latin typeface="Courier New"/>
              </a:rPr>
              <a:t>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822960" cy="411480"/>
          </a:xfrm>
          <a:prstGeom prst="rect">
            <a:avLst/>
          </a:prstGeom>
          <a:solidFill>
            <a:srgbClr val="FFD43B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1B2838"/>
                </a:solidFill>
                <a:latin typeface="Calibri"/>
              </a:rPr>
              <a:t>Mon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1051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822B"/>
                </a:solidFill>
                <a:latin typeface="Courier New"/>
              </a:rPr>
              <a:t>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9728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06998"/>
                </a:solidFill>
                <a:latin typeface="Courier New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353312"/>
            <a:ext cx="822960" cy="41148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1B2838"/>
                </a:solidFill>
                <a:latin typeface="Calibri"/>
              </a:rPr>
              <a:t>Tue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1051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822B"/>
                </a:solidFill>
                <a:latin typeface="Courier New"/>
              </a:rPr>
              <a:t>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09728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06998"/>
                </a:solidFill>
                <a:latin typeface="Courier New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353312"/>
            <a:ext cx="822960" cy="41148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1B2838"/>
                </a:solidFill>
                <a:latin typeface="Calibri"/>
              </a:rPr>
              <a:t>Wed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81051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822B"/>
                </a:solidFill>
                <a:latin typeface="Courier New"/>
              </a:rPr>
              <a:t>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09728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06998"/>
                </a:solidFill>
                <a:latin typeface="Courier New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1353312"/>
            <a:ext cx="822960" cy="41148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1B2838"/>
                </a:solidFill>
                <a:latin typeface="Calibri"/>
              </a:rPr>
              <a:t>Thu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81051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822B"/>
                </a:solidFill>
                <a:latin typeface="Courier New"/>
              </a:rPr>
              <a:t>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09728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06998"/>
                </a:solidFill>
                <a:latin typeface="Courier New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1353312"/>
            <a:ext cx="822960" cy="41148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1B2838"/>
                </a:solidFill>
                <a:latin typeface="Calibri"/>
              </a:rPr>
              <a:t>Fri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81051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822B"/>
                </a:solidFill>
                <a:latin typeface="Courier New"/>
              </a:rPr>
              <a:t>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09728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06998"/>
                </a:solidFill>
                <a:latin typeface="Courier New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353312"/>
            <a:ext cx="822960" cy="41148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1B2838"/>
                </a:solidFill>
                <a:latin typeface="Calibri"/>
              </a:rPr>
              <a:t>Sat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81051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822B"/>
                </a:solidFill>
                <a:latin typeface="Courier New"/>
              </a:rPr>
              <a:t>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109728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06998"/>
                </a:solidFill>
                <a:latin typeface="Courier New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1353312"/>
            <a:ext cx="822960" cy="411480"/>
          </a:xfrm>
          <a:prstGeom prst="rect">
            <a:avLst/>
          </a:prstGeom>
          <a:solidFill>
            <a:srgbClr val="F6C9A0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1B2838"/>
                </a:solidFill>
                <a:latin typeface="Calibri"/>
              </a:rPr>
              <a:t>Sun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181051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822B"/>
                </a:solidFill>
                <a:latin typeface="Courier New"/>
              </a:rPr>
              <a:t>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1155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06998"/>
                </a:solidFill>
                <a:latin typeface="Calibri"/>
              </a:rPr>
              <a:t>positive index (from the start)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8288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9822B"/>
                </a:solidFill>
                <a:latin typeface="Calibri"/>
              </a:rPr>
              <a:t>negative index (from the end)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331720"/>
            <a:ext cx="4754880" cy="224028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468879"/>
            <a:ext cx="438912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print(days[0])     </a:t>
            </a:r>
            <a:r>
              <a:rPr sz="1400" b="0" i="0">
                <a:solidFill>
                  <a:srgbClr val="98C379"/>
                </a:solidFill>
                <a:latin typeface="Courier New"/>
              </a:rPr>
              <a:t># Mon</a:t>
            </a:r>
          </a:p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print(days[3])     </a:t>
            </a:r>
            <a:r>
              <a:rPr sz="1400" b="0" i="0">
                <a:solidFill>
                  <a:srgbClr val="98C379"/>
                </a:solidFill>
                <a:latin typeface="Courier New"/>
              </a:rPr>
              <a:t># Thu</a:t>
            </a:r>
          </a:p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print(days[-1])    </a:t>
            </a:r>
            <a:r>
              <a:rPr sz="1400" b="0" i="0">
                <a:solidFill>
                  <a:srgbClr val="98C379"/>
                </a:solidFill>
                <a:latin typeface="Courier New"/>
              </a:rPr>
              <a:t># Sun</a:t>
            </a:r>
          </a:p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print(days[-2])    </a:t>
            </a:r>
            <a:r>
              <a:rPr sz="1400" b="0" i="0">
                <a:solidFill>
                  <a:srgbClr val="98C379"/>
                </a:solidFill>
                <a:latin typeface="Courier New"/>
              </a:rPr>
              <a:t># Sat</a:t>
            </a:r>
          </a:p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print(days[7])     </a:t>
            </a:r>
            <a:r>
              <a:rPr sz="1400" b="0" i="0">
                <a:solidFill>
                  <a:srgbClr val="98C379"/>
                </a:solidFill>
                <a:latin typeface="Courier New"/>
              </a:rPr>
              <a:t># IndexError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2331720"/>
            <a:ext cx="3200400" cy="224028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0" y="24688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06998"/>
                </a:solidFill>
                <a:latin typeface="Calibri"/>
              </a:rPr>
              <a:t>Remember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283464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1B2430"/>
                </a:solidFill>
                <a:latin typeface="Calibri"/>
              </a:rPr>
              <a:t>Indexing works exactly like lists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1B2430"/>
                </a:solidFill>
                <a:latin typeface="Calibri"/>
              </a:rPr>
              <a:t>Index 0 is the first item; -1 is the last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1B2430"/>
                </a:solidFill>
                <a:latin typeface="Calibri"/>
              </a:rPr>
              <a:t>An index past the end raises IndexError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Unpacking and Tuple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7A89"/>
                </a:solidFill>
                <a:latin typeface="Calibri"/>
              </a:rPr>
              <a:t>Unpacking: one variable per item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206240" cy="320040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840479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student = ("Ravi", 16, "10th")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name, age, grade = student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print(name)          </a:t>
            </a:r>
            <a:r>
              <a:rPr sz="1300" b="0" i="0">
                <a:solidFill>
                  <a:srgbClr val="98C379"/>
                </a:solidFill>
                <a:latin typeface="Courier New"/>
              </a:rPr>
              <a:t># Ravi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first, *rest = (10, 20, 30, 40)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print(rest)          </a:t>
            </a:r>
            <a:r>
              <a:rPr sz="1300" b="0" i="0">
                <a:solidFill>
                  <a:srgbClr val="98C379"/>
                </a:solidFill>
                <a:latin typeface="Courier New"/>
              </a:rPr>
              <a:t># [20, 30, 40]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x, y = 5, 9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x, y = y, x          </a:t>
            </a:r>
            <a:r>
              <a:rPr sz="1300" b="0" i="0">
                <a:solidFill>
                  <a:srgbClr val="98C379"/>
                </a:solidFill>
                <a:latin typeface="Courier New"/>
              </a:rPr>
              <a:t># swap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print(x, y)          </a:t>
            </a:r>
            <a:r>
              <a:rPr sz="1300" b="0" i="0">
                <a:solidFill>
                  <a:srgbClr val="98C379"/>
                </a:solidFill>
                <a:latin typeface="Courier New"/>
              </a:rPr>
              <a:t># 9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05156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7A89"/>
                </a:solidFill>
                <a:latin typeface="Calibri"/>
              </a:rPr>
              <a:t>Only two methods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371600"/>
            <a:ext cx="3749039" cy="146304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508760"/>
            <a:ext cx="33832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marks = (78, 90, 65, 90, 82)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print(marks.count(90))   </a:t>
            </a:r>
            <a:r>
              <a:rPr sz="1200" b="0" i="0">
                <a:solidFill>
                  <a:srgbClr val="98C379"/>
                </a:solidFill>
                <a:latin typeface="Courier New"/>
              </a:rPr>
              <a:t># 2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print(marks.index(90))   </a:t>
            </a:r>
            <a:r>
              <a:rPr sz="1200" b="0" i="0">
                <a:solidFill>
                  <a:srgbClr val="98C379"/>
                </a:solidFill>
                <a:latin typeface="Courier New"/>
              </a:rPr>
              <a:t># 1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print(90 in marks)       </a:t>
            </a:r>
            <a:r>
              <a:rPr sz="1200" b="0" i="0">
                <a:solidFill>
                  <a:srgbClr val="98C379"/>
                </a:solidFill>
                <a:latin typeface="Courier New"/>
              </a:rPr>
              <a:t># 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3017520"/>
            <a:ext cx="3749039" cy="155448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3154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822B"/>
                </a:solidFill>
                <a:latin typeface="Calibri"/>
              </a:rPr>
              <a:t>Why only two?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47472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Lists have 11 methods, but every other one changes the list. A tuple can't be changed, so only count() and index() remain.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Slicing a Tuple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383280" cy="457200"/>
          </a:xfrm>
          <a:prstGeom prst="roundRect">
            <a:avLst>
              <a:gd name="adj" fmla="val 15000"/>
            </a:avLst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D43B"/>
                </a:solidFill>
                <a:latin typeface="Calibri"/>
              </a:rPr>
              <a:t>t[start : stop : step]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C7A89"/>
                </a:solidFill>
                <a:latin typeface="Calibri"/>
              </a:rPr>
              <a:t>nums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06998"/>
                </a:solidFill>
                <a:latin typeface="Courier New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21991"/>
            <a:ext cx="475488" cy="41148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1B2838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79191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822B"/>
                </a:solidFill>
                <a:latin typeface="Courier New"/>
              </a:rPr>
              <a:t>-7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65960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06998"/>
                </a:solidFill>
                <a:latin typeface="Courier New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221991"/>
            <a:ext cx="475488" cy="41148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1B2838"/>
                </a:solidFill>
                <a:latin typeface="Calibr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79191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822B"/>
                </a:solidFill>
                <a:latin typeface="Courier New"/>
              </a:rPr>
              <a:t>-6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965960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06998"/>
                </a:solidFill>
                <a:latin typeface="Courier New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08176" y="2221991"/>
            <a:ext cx="475488" cy="41148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1B2838"/>
                </a:solidFill>
                <a:latin typeface="Calibri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679191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822B"/>
                </a:solidFill>
                <a:latin typeface="Courier New"/>
              </a:rPr>
              <a:t>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83664" y="1965960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06998"/>
                </a:solidFill>
                <a:latin typeface="Courier New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83664" y="2221991"/>
            <a:ext cx="475488" cy="41148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1B2838"/>
                </a:solidFill>
                <a:latin typeface="Calibri"/>
              </a:rPr>
              <a:t>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3664" y="2679191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822B"/>
                </a:solidFill>
                <a:latin typeface="Courier New"/>
              </a:rPr>
              <a:t>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152" y="1965960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06998"/>
                </a:solidFill>
                <a:latin typeface="Courier New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59152" y="2221991"/>
            <a:ext cx="475488" cy="41148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1B2838"/>
                </a:solidFill>
                <a:latin typeface="Calibri"/>
              </a:rPr>
              <a:t>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2679191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822B"/>
                </a:solidFill>
                <a:latin typeface="Courier New"/>
              </a:rPr>
              <a:t>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1965960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06998"/>
                </a:solidFill>
                <a:latin typeface="Courier New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221991"/>
            <a:ext cx="475488" cy="41148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1B2838"/>
                </a:solidFill>
                <a:latin typeface="Calibri"/>
              </a:rPr>
              <a:t>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679191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822B"/>
                </a:solidFill>
                <a:latin typeface="Courier New"/>
              </a:rPr>
              <a:t>-2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1965960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06998"/>
                </a:solidFill>
                <a:latin typeface="Courier New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0128" y="2221991"/>
            <a:ext cx="475488" cy="41148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1B2838"/>
                </a:solidFill>
                <a:latin typeface="Calibri"/>
              </a:rPr>
              <a:t>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8" y="2679191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822B"/>
                </a:solidFill>
                <a:latin typeface="Courier New"/>
              </a:rPr>
              <a:t>-1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10896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246120"/>
            <a:ext cx="30175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430"/>
                </a:solidFill>
                <a:latin typeface="Calibri"/>
              </a:rPr>
              <a:t>start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included,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stop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excluded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Out-of-range slices never raise an error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B2430"/>
                </a:solidFill>
                <a:latin typeface="Courier New"/>
              </a:rPr>
              <a:t>nums[0] → 10, but nums[0:1] → (10,)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114800" y="1097280"/>
          <a:ext cx="4572000" cy="34564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Slice</a:t>
                      </a:r>
                    </a:p>
                  </a:txBody>
                  <a:tcPr anchor="ctr" marL="73152" marR="73152" marT="27432" marB="27432">
                    <a:solidFill>
                      <a:srgbClr val="30699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 marL="73152" marR="73152" marT="27432" marB="27432">
                    <a:solidFill>
                      <a:srgbClr val="30699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B2838"/>
                          </a:solidFill>
                          <a:latin typeface="Calibri"/>
                        </a:rPr>
                        <a:t>nums[1:4]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838"/>
                          </a:solidFill>
                          <a:latin typeface="Calibri"/>
                        </a:rPr>
                        <a:t>(20, 30, 40)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B2838"/>
                          </a:solidFill>
                          <a:latin typeface="Calibri"/>
                        </a:rPr>
                        <a:t>nums[:3]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838"/>
                          </a:solidFill>
                          <a:latin typeface="Calibri"/>
                        </a:rPr>
                        <a:t>(10, 20, 30)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B2838"/>
                          </a:solidFill>
                          <a:latin typeface="Calibri"/>
                        </a:rPr>
                        <a:t>nums[4:]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838"/>
                          </a:solidFill>
                          <a:latin typeface="Calibri"/>
                        </a:rPr>
                        <a:t>(50, 60, 70)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B2838"/>
                          </a:solidFill>
                          <a:latin typeface="Calibri"/>
                        </a:rPr>
                        <a:t>nums[-3:]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838"/>
                          </a:solidFill>
                          <a:latin typeface="Calibri"/>
                        </a:rPr>
                        <a:t>(50, 60, 70)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B2838"/>
                          </a:solidFill>
                          <a:latin typeface="Calibri"/>
                        </a:rPr>
                        <a:t>nums[::2]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838"/>
                          </a:solidFill>
                          <a:latin typeface="Calibri"/>
                        </a:rPr>
                        <a:t>(10, 30, 50, 70)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B2838"/>
                          </a:solidFill>
                          <a:latin typeface="Calibri"/>
                        </a:rPr>
                        <a:t>nums[1:6:2]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838"/>
                          </a:solidFill>
                          <a:latin typeface="Calibri"/>
                        </a:rPr>
                        <a:t>(20, 40, 60)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B2838"/>
                          </a:solidFill>
                          <a:latin typeface="Calibri"/>
                        </a:rPr>
                        <a:t>nums[::-1]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838"/>
                          </a:solidFill>
                          <a:latin typeface="Calibri"/>
                        </a:rPr>
                        <a:t>(70, 60, ..., 10)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B2838"/>
                          </a:solidFill>
                          <a:latin typeface="Calibri"/>
                        </a:rPr>
                        <a:t>nums[2:100]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838"/>
                          </a:solidFill>
                          <a:latin typeface="Calibri"/>
                        </a:rPr>
                        <a:t>(30, 40, 50, 60, 70)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Nested Tuples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572000" cy="233172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420624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students = (("Anu", 16, 85),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        ("Ravi", 17, 92),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        ("Kiran", 16, 78))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print(students[1])      </a:t>
            </a:r>
            <a:r>
              <a:rPr sz="1300" b="0" i="0">
                <a:solidFill>
                  <a:srgbClr val="98C379"/>
                </a:solidFill>
                <a:latin typeface="Courier New"/>
              </a:rPr>
              <a:t># ('Ravi', 17, 92)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print(students[1][0])   </a:t>
            </a:r>
            <a:r>
              <a:rPr sz="1300" b="0" i="0">
                <a:solidFill>
                  <a:srgbClr val="98C379"/>
                </a:solidFill>
                <a:latin typeface="Courier New"/>
              </a:rPr>
              <a:t># Ravi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for name, age, marks in students: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print(name, marks)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11880"/>
            <a:ext cx="4572000" cy="96012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9822B"/>
                </a:solidFill>
                <a:latin typeface="Calibri"/>
              </a:rPr>
              <a:t>Bonus: </a:t>
            </a:r>
            <a:r>
              <a:rPr sz="1300" b="0" i="0">
                <a:solidFill>
                  <a:srgbClr val="1B2430"/>
                </a:solidFill>
                <a:latin typeface="Courier New"/>
              </a:rPr>
              <a:t>data = (1, 2, [3, 4])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data[2].append(5) works: the tuple is unchanged, but the list inside it is mutable.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0972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C7A89"/>
                </a:solidFill>
                <a:latin typeface="Calibri"/>
              </a:rPr>
              <a:t>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371600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06998"/>
                </a:solidFill>
                <a:latin typeface="Courier New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06998"/>
                </a:solidFill>
                <a:latin typeface="Courier New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371600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06998"/>
                </a:solidFill>
                <a:latin typeface="Courier New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75564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822B"/>
                </a:solidFill>
                <a:latin typeface="Courier New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645920"/>
            <a:ext cx="59436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838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645920"/>
            <a:ext cx="59436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838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1645920"/>
            <a:ext cx="59436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838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21284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822B"/>
                </a:solidFill>
                <a:latin typeface="Courier New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2103120"/>
            <a:ext cx="59436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838"/>
                </a:solidFill>
                <a:latin typeface="Calibri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103120"/>
            <a:ext cx="59436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838"/>
                </a:solidFill>
                <a:latin typeface="Calibri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2103120"/>
            <a:ext cx="594360" cy="457200"/>
          </a:xfrm>
          <a:prstGeom prst="rect">
            <a:avLst/>
          </a:prstGeom>
          <a:solidFill>
            <a:srgbClr val="FFD43B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838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67004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822B"/>
                </a:solidFill>
                <a:latin typeface="Courier New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560320"/>
            <a:ext cx="59436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838"/>
                </a:solidFill>
                <a:latin typeface="Calibri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560320"/>
            <a:ext cx="59436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838"/>
                </a:solidFill>
                <a:latin typeface="Calibri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2560320"/>
            <a:ext cx="59436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838"/>
                </a:solidFill>
                <a:latin typeface="Calibri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15468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430"/>
                </a:solidFill>
                <a:latin typeface="Courier New"/>
              </a:rPr>
              <a:t>matrix[1][2]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 →  6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C7A89"/>
                </a:solidFill>
                <a:latin typeface="Calibri"/>
              </a:rPr>
              <a:t>First index picks the row, second picks the column.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Practice: 5 Medium-Level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606040" cy="16002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21792" y="1234439"/>
            <a:ext cx="384048" cy="384048"/>
          </a:xfrm>
          <a:prstGeom prst="ellipse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28016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Marks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1907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Print topper, average and names above average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1343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9822B"/>
                </a:solidFill>
                <a:latin typeface="Courier New"/>
              </a:rPr>
              <a:t>Topper: Ravi 92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8980" y="1097280"/>
            <a:ext cx="2606040" cy="16002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33572" y="1234439"/>
            <a:ext cx="384048" cy="384048"/>
          </a:xfrm>
          <a:prstGeom prst="ellipse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7348" y="128016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Rotate a tuple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3572" y="171907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Rotate (1,2,3,4,5) left and right by k =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3572" y="231343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9822B"/>
                </a:solidFill>
                <a:latin typeface="Courier New"/>
              </a:rPr>
              <a:t>(3, 4, 5, 1, 2)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097280"/>
            <a:ext cx="2606040" cy="16002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45352" y="1234439"/>
            <a:ext cx="384048" cy="384048"/>
          </a:xfrm>
          <a:prstGeom prst="ellipse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128016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Remove duplicates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171907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Keep the original order; no 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231343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9822B"/>
                </a:solidFill>
                <a:latin typeface="Courier New"/>
              </a:rPr>
              <a:t>(3, 1, 2, 4)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880360"/>
            <a:ext cx="2606040" cy="16002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1792" y="3017520"/>
            <a:ext cx="384048" cy="384048"/>
          </a:xfrm>
          <a:prstGeom prst="ellipse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306324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Matrix sums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50215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Row, column and diagonal sums of a 3 × 3 tuple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0965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9822B"/>
                </a:solidFill>
                <a:latin typeface="Courier New"/>
              </a:rPr>
              <a:t>Columns: 12 15 18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68980" y="2880360"/>
            <a:ext cx="2606040" cy="16002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33572" y="3017520"/>
            <a:ext cx="384048" cy="384048"/>
          </a:xfrm>
          <a:prstGeom prst="ellipse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27348" y="306324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"Modify" a tuple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33572" y="350215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Replace, insert, delete at index 2 with slicing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33572" y="40965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9822B"/>
                </a:solidFill>
                <a:latin typeface="Courier New"/>
              </a:rPr>
              <a:t>(10, 20, 99, 40, 50)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2880360"/>
            <a:ext cx="2606040" cy="1600200"/>
          </a:xfrm>
          <a:prstGeom prst="roundRect">
            <a:avLst>
              <a:gd name="adj" fmla="val 5000"/>
            </a:avLst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017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D43B"/>
                </a:solidFill>
                <a:latin typeface="Calibri"/>
              </a:rPr>
              <a:t>Watch 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38328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When building a tuple, write </a:t>
            </a:r>
            <a:r>
              <a:rPr sz="1400" b="0" i="0">
                <a:solidFill>
                  <a:srgbClr val="FFD43B"/>
                </a:solidFill>
                <a:latin typeface="Courier New"/>
              </a:rPr>
              <a:t>(x,)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not </a:t>
            </a:r>
            <a:r>
              <a:rPr sz="1400" b="0" i="0">
                <a:solidFill>
                  <a:srgbClr val="FFD43B"/>
                </a:solidFill>
                <a:latin typeface="Courier New"/>
              </a:rPr>
              <a:t>(x)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, or you'll get a TypeError.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Answer Key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7A89"/>
                </a:solidFill>
                <a:latin typeface="Calibri"/>
              </a:rPr>
              <a:t>Exercise 2: Rotate with slicing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657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t = (1, 2, 3, 4, 5)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k = 2 % len(t)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print(t[k:] + t[:k])</a:t>
            </a:r>
          </a:p>
          <a:p>
            <a:pPr algn="l"/>
            <a:r>
              <a:rPr sz="1300" b="0" i="0">
                <a:solidFill>
                  <a:srgbClr val="98C379"/>
                </a:solidFill>
                <a:latin typeface="Courier New"/>
              </a:rPr>
              <a:t># (3, 4, 5, 1, 2)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print(t[-k:] + t[:-k])</a:t>
            </a:r>
          </a:p>
          <a:p>
            <a:pPr algn="l"/>
            <a:r>
              <a:rPr sz="1300" b="0" i="0">
                <a:solidFill>
                  <a:srgbClr val="98C379"/>
                </a:solidFill>
                <a:latin typeface="Courier New"/>
              </a:rPr>
              <a:t># (4, 5, 1, 2,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7A89"/>
                </a:solidFill>
                <a:latin typeface="Calibri"/>
              </a:rPr>
              <a:t>Exercise 5: Every change makes a new tuple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37160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508760"/>
            <a:ext cx="3657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t = (10, 20, 30, 40, 50)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t[:2] + (99,) + t[3:]</a:t>
            </a:r>
          </a:p>
          <a:p>
            <a:pPr algn="l"/>
            <a:r>
              <a:rPr sz="1300" b="0" i="0">
                <a:solidFill>
                  <a:srgbClr val="98C379"/>
                </a:solidFill>
                <a:latin typeface="Courier New"/>
              </a:rPr>
              <a:t># (10, 20, 99, 40, 50)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t[:2] + (25,) + t[2:]</a:t>
            </a:r>
          </a:p>
          <a:p>
            <a:pPr algn="l"/>
            <a:r>
              <a:rPr sz="1300" b="0" i="0">
                <a:solidFill>
                  <a:srgbClr val="98C379"/>
                </a:solidFill>
                <a:latin typeface="Courier New"/>
              </a:rPr>
              <a:t># (10, 20, 25, 30, 40, 50)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t[:2] + t[3:]</a:t>
            </a:r>
          </a:p>
          <a:p>
            <a:pPr algn="l"/>
            <a:r>
              <a:rPr sz="1300" b="0" i="0">
                <a:solidFill>
                  <a:srgbClr val="98C379"/>
                </a:solidFill>
                <a:latin typeface="Courier New"/>
              </a:rPr>
              <a:t># (10, 20, 40, 50)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8229600" cy="8229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2430"/>
                </a:solidFill>
                <a:latin typeface="Calibri"/>
              </a:rPr>
              <a:t>k % len(t) keeps the rotation correct even when k is larger than the tuple, for example k = 7.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4023360" cy="1234440"/>
          </a:xfrm>
          <a:prstGeom prst="roundRect">
            <a:avLst>
              <a:gd name="adj" fmla="val 5000"/>
            </a:avLst>
          </a:prstGeom>
          <a:solidFill>
            <a:srgbClr val="2B4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201168" cy="201168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716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Immutable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EF2F5"/>
                </a:solidFill>
                <a:latin typeface="Calibri"/>
              </a:rPr>
              <a:t>Store data at creation; to change it, build a new tuple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188720"/>
            <a:ext cx="4023360" cy="1234440"/>
          </a:xfrm>
          <a:prstGeom prst="roundRect">
            <a:avLst>
              <a:gd name="adj" fmla="val 5000"/>
            </a:avLst>
          </a:prstGeom>
          <a:solidFill>
            <a:srgbClr val="2B4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59" y="1463040"/>
            <a:ext cx="201168" cy="201168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13716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The comma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1828800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EF2F5"/>
                </a:solidFill>
                <a:latin typeface="Calibri"/>
              </a:rPr>
              <a:t>(5,) is a tuple; (5) is just an 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6040"/>
            <a:ext cx="4023360" cy="1234440"/>
          </a:xfrm>
          <a:prstGeom prst="roundRect">
            <a:avLst>
              <a:gd name="adj" fmla="val 5000"/>
            </a:avLst>
          </a:prstGeom>
          <a:solidFill>
            <a:srgbClr val="2B4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880360"/>
            <a:ext cx="201168" cy="201168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889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Same tools as lists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EF2F5"/>
                </a:solidFill>
                <a:latin typeface="Calibri"/>
              </a:rPr>
              <a:t>Indexing, slicing and nesting work the same 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606040"/>
            <a:ext cx="4023360" cy="1234440"/>
          </a:xfrm>
          <a:prstGeom prst="roundRect">
            <a:avLst>
              <a:gd name="adj" fmla="val 5000"/>
            </a:avLst>
          </a:prstGeom>
          <a:solidFill>
            <a:srgbClr val="2B4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37759" y="2880360"/>
            <a:ext cx="201168" cy="201168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27889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Two methods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3246120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EF2F5"/>
                </a:solidFill>
                <a:latin typeface="Calibri"/>
              </a:rPr>
              <a:t>count() and index(), plus len, max, min, sum,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Tuples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