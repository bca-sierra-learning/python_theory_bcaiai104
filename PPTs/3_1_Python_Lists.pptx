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2" r:id="rId6"/>
    <p:sldId id="264" r:id="rId7"/>
    <p:sldId id="266" r:id="rId8"/>
    <p:sldId id="267" r:id="rId9"/>
    <p:sldId id="273" r:id="rId10"/>
    <p:sldId id="287" r:id="rId23"/>
    <p:sldId id="288" r:id="rId24"/>
    <p:sldId id="274" r:id="rId11"/>
    <p:sldId id="276" r:id="rId12"/>
    <p:sldId id="277" r:id="rId13"/>
    <p:sldId id="283" r:id="rId14"/>
    <p:sldId id="284" r:id="rId15"/>
    <p:sldId id="285" r:id="rId16"/>
    <p:sldId id="28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  <Relationship Id="rId24" Type="http://schemas.openxmlformats.org/officeDocument/2006/relationships/slide" Target="slides/slide1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25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lesson: by the end, students can create lists, use all 11 list methods, and solve basic list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flow: concepts first (collection, sequence, list), then syntax, then methods, then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would you store marks of 60 students? 60 variables is impractical. A collection solves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Mutable means changeable after creation. Point out the bracket shapes: [ ] list, ( ) tuple, { } set and dictionary.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properties to remember. Ask students which of these a tuple does NOT have (mutable).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list("abc") splits a string into characters. list(5) gives an error because an int is not iterable.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wrong version first and let students be surprised that all rows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only; the next slides cover each method with an example. Warn: a = a.sort() sets a to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is a statement, not a function, so it has no parentheses around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exercise: show the problem, give students 2-3 minutes, then reveal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trace the list after every line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Extension: also print how many students scored above the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 minutes.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each answer back to the confusions slide: = vs copy, sort vs sorted, append vs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Problems 1-4 practise basics; 5-8 combine several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and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Lists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Collections, sequences, creating and initializing lists, built-in methods, and practice exercises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20640" y="13258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11A26"/>
          </a:solidFill>
          <a:ln w="12700">
            <a:solidFill>
              <a:srgbClr val="111A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285232" y="1490472"/>
            <a:ext cx="3236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[85, 90, 78]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marks.append(95)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[85, 90, 78, 95]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learn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234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collection?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sequence?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list?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new list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7548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1234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initialization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754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list methods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75488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Worked-out exercises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collection?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is a single object that holds many values together under one name.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values inside it are called items or elements.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process all of them as a group, e.g. in a loop.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mark1, mark2, mark3 ... variables.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11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bag is the collection; the books inside are its elements.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collection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4919472" y="1536192"/>
            <a:ext cx="3602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mark1 = 85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mark2 = 90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mark3 = 78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collection (a list)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4919472" y="3182112"/>
            <a:ext cx="360273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[85, 90, 78]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[85, 90, 78]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has four built-in collection types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[10, 20, 30]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(10, 20, 30)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{10, 20, 30}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{"a": 1, "b": 2}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(Python 3.7+)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Keys: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6D5"/>
          </a:solidFill>
          <a:ln w="12700">
            <a:solidFill>
              <a:srgbClr val="FFF6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focus: the list.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most commonly used collection because it is ordered, changeable and allows any mix of values.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list?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an ordered, changeable sequence of items written inside square brackets </a:t>
            </a:r>
            <a:r>
              <a:rPr lang="en-US" sz="16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items separated by commas.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12598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keep the order you add them in; each has an index.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8288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474720" y="2011680"/>
            <a:ext cx="457200" cy="45720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21259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6908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 or change items after the list is created.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8288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309360" y="2011680"/>
            <a:ext cx="457200" cy="45720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212598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037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 can mix types: int, str, float, bool.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32918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58902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allowed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value can appear more than once.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291840" y="32918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3474720" y="3474720"/>
            <a:ext cx="457200" cy="45720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9020" y="3589020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06908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size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347472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and shrinks as needed; no fixed length.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126480" y="32918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309360" y="3474720"/>
            <a:ext cx="457200" cy="45720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660" y="3589020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90372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Nestable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630936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can contain other lists: [[1, 2], [3, 4]].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of creating a new 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1 · Square brackets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list_name = [item1, item2, ...]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89204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2 · list() constructor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list_name = list(iterable)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21792" y="2542032"/>
            <a:ext cx="479145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empty1 = []                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empty list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empty2 = list()            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also empty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["red", "green", "blue"]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letters = list("abc")      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['a', 'b', 'c']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from_tuple = list((1, 2, 3))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list(range(1, 6))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4, 5]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print(type(colors))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'list'&gt;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2377440"/>
            <a:ext cx="2834640" cy="22860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03504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to remember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8346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square brackets, not ( ) or { }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items with commas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strings in quotes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list() needs an iterable: string, tuple, range, set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Initialization with a loop, and a common trap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list step by step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21792" y="1490472"/>
            <a:ext cx="27797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nums.append(i)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4, 5]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051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rows share one list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325880"/>
            <a:ext cx="4846320" cy="1417320"/>
          </a:xfrm>
          <a:prstGeom prst="roundRect">
            <a:avLst>
              <a:gd name="adj" fmla="val 6452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005072" y="149047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[[0] * 3] *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grid[0][0] = 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print(grid)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[[9, 0, 0], [9, 0, 0], [9, 0, 0]]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each row is a new list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3200400"/>
            <a:ext cx="4846320" cy="1463040"/>
          </a:xfrm>
          <a:prstGeom prst="roundRect">
            <a:avLst>
              <a:gd name="adj" fmla="val 625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005072" y="3364992"/>
            <a:ext cx="451713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[[0] * 3 for _ in range(3)]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grid[0][0] = 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print(grid)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[[9, 0, 0], [0, 0, 0], [0, 0, 0]]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FFF6D5"/>
          </a:solidFill>
          <a:ln w="12700">
            <a:solidFill>
              <a:srgbClr val="FFF6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3566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a nested list copies references, not rows. Use a comprehension for 2D lists.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11 built-in list methods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with dot notation: </a:t>
            </a:r>
            <a:r>
              <a:rPr lang="en-US" sz="13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list_name.method(args)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Most change the list in place and return None.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append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list.append(x)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x to the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extend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list.extend(iterable)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every item of iterable to the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list.insert(i, x)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Inserts x at index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remove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list.remove(x)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first occurrence of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list.pop([i])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and returns item at i (default: last)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clear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list.clear()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all 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list.index(x[, start[, end]])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of the first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list.count(x)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times x appears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list.sort(key=None, reverse=False)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Sorts the list in 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reverse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list.reverse()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Reverses the order in 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copy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list.copy()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a shallow copy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functions that work with lists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list methods, but students use them with lists constantly. Examples use </a:t>
            </a:r>
            <a:r>
              <a:rPr lang="en-US" sz="13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[4, 1, 9]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min(a) / max(a)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sorted(a)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sorted(a)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 4, 9]  (a unchanged)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 a[i]  (statement)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 a[0]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becomes [1, 9]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Worked-out exercises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 before running the code.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1 · Build a shopping 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86384" cy="329184"/>
          </a:xfrm>
          <a:prstGeom prst="roundRect">
            <a:avLst>
              <a:gd name="adj" fmla="val 22222"/>
            </a:avLst>
          </a:prstGeom>
          <a:solidFill>
            <a:srgbClr val="CDEBD3"/>
          </a:solidFill>
          <a:ln w="12700">
            <a:solidFill>
              <a:srgbClr val="CDE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empty list, add three items, insert "milk" at the start, remove "soap", and print the result.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adds at the end, insert(0, ...) adds at the front, and remove() deletes by value.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1097280"/>
            <a:ext cx="4572000" cy="3566160"/>
          </a:xfrm>
          <a:prstGeom prst="roundRect">
            <a:avLst>
              <a:gd name="adj" fmla="val 2564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279392" y="1261872"/>
            <a:ext cx="424281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 = []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cart.append("bread")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cart.append("soap")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cart.append("eggs")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cart.insert(0, "milk")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cart.remove("soap")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print(cart)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print(len(cart))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['milk', 'bread', 'eggs']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2 · Class marks report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996696" cy="329184"/>
          </a:xfrm>
          <a:prstGeom prst="roundRect">
            <a:avLst>
              <a:gd name="adj" fmla="val 22222"/>
            </a:avLst>
          </a:prstGeom>
          <a:solidFill>
            <a:srgbClr val="FFE9A8"/>
          </a:solidFill>
          <a:ln w="12700">
            <a:solidFill>
              <a:srgbClr val="FFE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marks of 6 students, print the highest, lowest, average, and how many scored 90.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is 460 over 6 marks, so the average is 76.67. count(90) finds two 90s.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1097280"/>
            <a:ext cx="4572000" cy="3566160"/>
          </a:xfrm>
          <a:prstGeom prst="roundRect">
            <a:avLst>
              <a:gd name="adj" fmla="val 2564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279392" y="1261872"/>
            <a:ext cx="424281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[78, 90, 65, 90, 82, 55]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print("Highest:", max(marks))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print("Lowest:", min(marks))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= sum(marks) / len(marks)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print("Average:", round(avg, 2))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print("Scored 90:", marks.count(90))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Highest: 90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Lowest: 55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Average: 76.67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Scored 90: 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output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937760" cy="3566160"/>
          </a:xfrm>
          <a:prstGeom prst="roundRect">
            <a:avLst>
              <a:gd name="adj" fmla="val 2564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21792" y="1261872"/>
            <a:ext cx="46085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b.append(4)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[5, 2, 8]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print(c.sort())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[1, 2]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d.append([3, 4])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print(len(d))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3566160"/>
          </a:xfrm>
          <a:prstGeom prst="roundRect">
            <a:avLst>
              <a:gd name="adj" fmla="val 3030"/>
            </a:avLst>
          </a:prstGeom>
          <a:solidFill>
            <a:srgbClr val="FFF6D5"/>
          </a:solidFill>
          <a:ln w="12700">
            <a:solidFill>
              <a:srgbClr val="FFF6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85216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Think, pair, share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7830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first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 partner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code to check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566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each question tests one idea from today.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640080" cy="329184"/>
          </a:xfrm>
          <a:prstGeom prst="roundRect">
            <a:avLst>
              <a:gd name="adj" fmla="val 22222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4]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603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does not copy. a and b are the same list, so appending through b changes 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74720" y="1280160"/>
            <a:ext cx="640080" cy="329184"/>
          </a:xfrm>
          <a:prstGeom prst="roundRect">
            <a:avLst>
              <a:gd name="adj" fmla="val 22222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474720" y="12801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5603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changes the list in place and returns nothing. Print c afterwards to see [2, 5, 8].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309360" y="1280160"/>
            <a:ext cx="640080" cy="329184"/>
          </a:xfrm>
          <a:prstGeom prst="roundRect">
            <a:avLst>
              <a:gd name="adj" fmla="val 22222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309360" y="12801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5603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adds the whole list [3, 4] as one item: d is [1, 2, [3, 4]].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problems for homework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94360" y="1271016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94360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09728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5 numbers from the user into a list; print their sum and average.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46320" y="1271016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846320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09728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 list without reverse() or slicing (use a loop).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" y="2167128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94360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199339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names = ["ravi", "anu", "kiran"], make a new list with each name in capitals.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993392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46320" y="2167128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846320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199339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items in a list are greater than the list’s average.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89504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94360" y="3063240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9436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288950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two lists; print the result sorted and without duplicates.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9504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3063240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84632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288950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 list left by one: [1, 2, 3, 4] becomes [2, 3, 4, 1].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785616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5943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78561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position of every occurrence of a given value in a list.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3785616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46320" y="3959352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484632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394960" y="378561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3 × 3 matrix as a nested list; print the sum of each row.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26374F"/>
          </a:solidFill>
          <a:ln w="12700">
            <a:solidFill>
              <a:srgbClr val="263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059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459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an ordered, mutable sequence written in [ ].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14630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26374F"/>
          </a:solidFill>
          <a:ln w="12700">
            <a:solidFill>
              <a:srgbClr val="263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892040" y="1691640"/>
            <a:ext cx="457200" cy="4572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180594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32120" y="16459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start at 0; negative indexes count from the end.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0632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26374F"/>
          </a:solidFill>
          <a:ln w="12700">
            <a:solidFill>
              <a:srgbClr val="263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40614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2461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list methods change the list in place and return None.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663440" y="30632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26374F"/>
          </a:solidFill>
          <a:ln w="12700">
            <a:solidFill>
              <a:srgbClr val="263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4892040" y="3291840"/>
            <a:ext cx="457200" cy="4572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34061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32120" y="32461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copy() or sorted() when the original must stay unchanged.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[ ]</a:t>
            </a:r>
            <a:endParaRPr lang="en-US" sz="1500" dirty="0"/>
          </a:p>
        </p:txBody>
      </p:sp>
      <p:sp>
        <p:nvSpPr>
          <p:cNvPr id="4" name="Text 4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List slicing</a:t>
            </a:r>
            <a:endParaRPr lang="en-US" sz="2800" dirty="0"/>
          </a:p>
        </p:txBody>
      </p:sp>
      <p:sp>
        <p:nvSpPr>
          <p:cNvPr id="5" name="Text 5"/>
          <p:cNvSpPr txBox="1"/>
          <p:nvPr/>
        </p:nvSpPr>
        <p:spPr>
          <a:xfrm>
            <a:off x="457200" y="1051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Syntax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457200" y="1325880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7"/>
          <p:cNvSpPr txBox="1"/>
          <p:nvPr/>
        </p:nvSpPr>
        <p:spPr>
          <a:xfrm>
            <a:off x="621792" y="1325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list[start : stop : step]</a:t>
            </a:r>
            <a:endParaRPr lang="en-US" sz="1400" dirty="0"/>
          </a:p>
        </p:txBody>
      </p:sp>
      <p:sp>
        <p:nvSpPr>
          <p:cNvPr id="8" name="Text 8"/>
          <p:cNvSpPr txBox="1"/>
          <p:nvPr/>
        </p:nvSpPr>
        <p:spPr>
          <a:xfrm>
            <a:off x="45720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Index positions of nums</a:t>
            </a:r>
            <a:endParaRPr lang="en-US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502920" y="2331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0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502920" y="2578608"/>
            <a:ext cx="502920" cy="41148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10</a:t>
            </a:r>
            <a:endParaRPr lang="en-US" sz="1400" dirty="0"/>
          </a:p>
        </p:txBody>
      </p:sp>
      <p:sp>
        <p:nvSpPr>
          <p:cNvPr id="11" name="Text 11"/>
          <p:cNvSpPr txBox="1"/>
          <p:nvPr/>
        </p:nvSpPr>
        <p:spPr>
          <a:xfrm>
            <a:off x="502920" y="3017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-6</a:t>
            </a:r>
            <a:endParaRPr lang="en-US" sz="1100" dirty="0"/>
          </a:p>
        </p:txBody>
      </p:sp>
      <p:sp>
        <p:nvSpPr>
          <p:cNvPr id="12" name="Text 12"/>
          <p:cNvSpPr txBox="1"/>
          <p:nvPr/>
        </p:nvSpPr>
        <p:spPr>
          <a:xfrm>
            <a:off x="1005840" y="2331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1005840" y="2578608"/>
            <a:ext cx="502920" cy="41148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20</a:t>
            </a:r>
            <a:endParaRPr lang="en-US" sz="1400" dirty="0"/>
          </a:p>
        </p:txBody>
      </p:sp>
      <p:sp>
        <p:nvSpPr>
          <p:cNvPr id="14" name="Text 14"/>
          <p:cNvSpPr txBox="1"/>
          <p:nvPr/>
        </p:nvSpPr>
        <p:spPr>
          <a:xfrm>
            <a:off x="1005840" y="3017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-5</a:t>
            </a:r>
            <a:endParaRPr lang="en-US" sz="1100" dirty="0"/>
          </a:p>
        </p:txBody>
      </p:sp>
      <p:sp>
        <p:nvSpPr>
          <p:cNvPr id="15" name="Text 15"/>
          <p:cNvSpPr txBox="1"/>
          <p:nvPr/>
        </p:nvSpPr>
        <p:spPr>
          <a:xfrm>
            <a:off x="1508760" y="2331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2</a:t>
            </a:r>
            <a:endParaRPr lang="en-US" sz="1100" dirty="0"/>
          </a:p>
        </p:txBody>
      </p:sp>
      <p:sp>
        <p:nvSpPr>
          <p:cNvPr id="16" name="Shape 16"/>
          <p:cNvSpPr/>
          <p:nvPr/>
        </p:nvSpPr>
        <p:spPr>
          <a:xfrm>
            <a:off x="1508760" y="2578608"/>
            <a:ext cx="502920" cy="41148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30</a:t>
            </a:r>
            <a:endParaRPr lang="en-US" sz="1400" dirty="0"/>
          </a:p>
        </p:txBody>
      </p:sp>
      <p:sp>
        <p:nvSpPr>
          <p:cNvPr id="17" name="Text 17"/>
          <p:cNvSpPr txBox="1"/>
          <p:nvPr/>
        </p:nvSpPr>
        <p:spPr>
          <a:xfrm>
            <a:off x="1508760" y="3017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-4</a:t>
            </a:r>
            <a:endParaRPr lang="en-US" sz="1100" dirty="0"/>
          </a:p>
        </p:txBody>
      </p:sp>
      <p:sp>
        <p:nvSpPr>
          <p:cNvPr id="18" name="Text 18"/>
          <p:cNvSpPr txBox="1"/>
          <p:nvPr/>
        </p:nvSpPr>
        <p:spPr>
          <a:xfrm>
            <a:off x="2011680" y="2331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3</a:t>
            </a:r>
            <a:endParaRPr lang="en-US" sz="1100" dirty="0"/>
          </a:p>
        </p:txBody>
      </p:sp>
      <p:sp>
        <p:nvSpPr>
          <p:cNvPr id="19" name="Shape 19"/>
          <p:cNvSpPr/>
          <p:nvPr/>
        </p:nvSpPr>
        <p:spPr>
          <a:xfrm>
            <a:off x="2011680" y="2578608"/>
            <a:ext cx="502920" cy="41148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40</a:t>
            </a:r>
            <a:endParaRPr lang="en-US" sz="1400" dirty="0"/>
          </a:p>
        </p:txBody>
      </p:sp>
      <p:sp>
        <p:nvSpPr>
          <p:cNvPr id="20" name="Text 20"/>
          <p:cNvSpPr txBox="1"/>
          <p:nvPr/>
        </p:nvSpPr>
        <p:spPr>
          <a:xfrm>
            <a:off x="2011680" y="3017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-3</a:t>
            </a:r>
            <a:endParaRPr lang="en-US" sz="1100" dirty="0"/>
          </a:p>
        </p:txBody>
      </p:sp>
      <p:sp>
        <p:nvSpPr>
          <p:cNvPr id="21" name="Text 21"/>
          <p:cNvSpPr txBox="1"/>
          <p:nvPr/>
        </p:nvSpPr>
        <p:spPr>
          <a:xfrm>
            <a:off x="2514600" y="2331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4</a:t>
            </a:r>
            <a:endParaRPr lang="en-US" sz="1100" dirty="0"/>
          </a:p>
        </p:txBody>
      </p:sp>
      <p:sp>
        <p:nvSpPr>
          <p:cNvPr id="22" name="Shape 22"/>
          <p:cNvSpPr/>
          <p:nvPr/>
        </p:nvSpPr>
        <p:spPr>
          <a:xfrm>
            <a:off x="2514600" y="2578608"/>
            <a:ext cx="502920" cy="41148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50</a:t>
            </a:r>
            <a:endParaRPr lang="en-US" sz="1400" dirty="0"/>
          </a:p>
        </p:txBody>
      </p:sp>
      <p:sp>
        <p:nvSpPr>
          <p:cNvPr id="23" name="Text 23"/>
          <p:cNvSpPr txBox="1"/>
          <p:nvPr/>
        </p:nvSpPr>
        <p:spPr>
          <a:xfrm>
            <a:off x="2514600" y="3017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-2</a:t>
            </a:r>
            <a:endParaRPr lang="en-US" sz="1100" dirty="0"/>
          </a:p>
        </p:txBody>
      </p:sp>
      <p:sp>
        <p:nvSpPr>
          <p:cNvPr id="24" name="Text 24"/>
          <p:cNvSpPr txBox="1"/>
          <p:nvPr/>
        </p:nvSpPr>
        <p:spPr>
          <a:xfrm>
            <a:off x="3017520" y="2331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5</a:t>
            </a:r>
            <a:endParaRPr lang="en-US" sz="1100" dirty="0"/>
          </a:p>
        </p:txBody>
      </p:sp>
      <p:sp>
        <p:nvSpPr>
          <p:cNvPr id="25" name="Shape 25"/>
          <p:cNvSpPr/>
          <p:nvPr/>
        </p:nvSpPr>
        <p:spPr>
          <a:xfrm>
            <a:off x="3017520" y="2578608"/>
            <a:ext cx="502920" cy="41148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60</a:t>
            </a:r>
            <a:endParaRPr lang="en-US" sz="1400" dirty="0"/>
          </a:p>
        </p:txBody>
      </p:sp>
      <p:sp>
        <p:nvSpPr>
          <p:cNvPr id="26" name="Text 26"/>
          <p:cNvSpPr txBox="1"/>
          <p:nvPr/>
        </p:nvSpPr>
        <p:spPr>
          <a:xfrm>
            <a:off x="3017520" y="3017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-1</a:t>
            </a:r>
            <a:endParaRPr lang="en-US" sz="1100" dirty="0"/>
          </a:p>
        </p:txBody>
      </p:sp>
      <p:sp>
        <p:nvSpPr>
          <p:cNvPr id="27" name="Shape 27"/>
          <p:cNvSpPr/>
          <p:nvPr/>
        </p:nvSpPr>
        <p:spPr>
          <a:xfrm>
            <a:off x="457200" y="356616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FFF6D5"/>
          </a:solidFill>
          <a:ln w="12700">
            <a:solidFill>
              <a:srgbClr val="FFF6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 txBox="1"/>
          <p:nvPr/>
        </p:nvSpPr>
        <p:spPr>
          <a:xfrm>
            <a:off x="640080" y="3566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start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included, </a:t>
            </a: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stop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excluded. Leave a part out to use its default: start 0, stop end, step 1. Out-of-range slices never raise an error.</a:t>
            </a:r>
            <a:endParaRPr lang="en-US" sz="1200" dirty="0"/>
          </a:p>
        </p:txBody>
      </p:sp>
      <p:sp>
        <p:nvSpPr>
          <p:cNvPr id="29" name="Text 29"/>
          <p:cNvSpPr txBox="1"/>
          <p:nvPr/>
        </p:nvSpPr>
        <p:spPr>
          <a:xfrm>
            <a:off x="3794760" y="10515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Examples</a:t>
            </a:r>
            <a:endParaRPr lang="en-US" sz="1200" dirty="0"/>
          </a:p>
        </p:txBody>
      </p:sp>
      <p:sp>
        <p:nvSpPr>
          <p:cNvPr id="30" name="Shape 30"/>
          <p:cNvSpPr/>
          <p:nvPr/>
        </p:nvSpPr>
        <p:spPr>
          <a:xfrm>
            <a:off x="3794760" y="1325880"/>
            <a:ext cx="4892040" cy="201168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31"/>
          <p:cNvSpPr txBox="1"/>
          <p:nvPr/>
        </p:nvSpPr>
        <p:spPr>
          <a:xfrm>
            <a:off x="3959352" y="1490472"/>
            <a:ext cx="456285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nums = [10, 20, 30, 40, 50, 60]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print(nums[1:4]) 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[20, 30, 40]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print(nums[:3])  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[10, 20, 30]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print(nums[3:])  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[40, 50, 60]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print(nums[-2:]) 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[50, 60]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print(nums[1:5:2])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[20, 40]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print(nums[::-1])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[60, 50, 40, 30, 20, 10]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print(nums[2:100])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[30, 40, 50, 60]</a:t>
            </a:r>
            <a:endParaRPr lang="en-US" sz="1200" dirty="0"/>
          </a:p>
        </p:txBody>
      </p:sp>
      <p:sp>
        <p:nvSpPr>
          <p:cNvPr id="32" name="Text 32"/>
          <p:cNvSpPr txBox="1"/>
          <p:nvPr/>
        </p:nvSpPr>
        <p:spPr>
          <a:xfrm>
            <a:off x="3794760" y="34930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slice is a new list: the original stays unchanged</a:t>
            </a:r>
            <a:endParaRPr lang="en-US" sz="1200" dirty="0"/>
          </a:p>
        </p:txBody>
      </p:sp>
      <p:sp>
        <p:nvSpPr>
          <p:cNvPr id="33" name="Shape 33"/>
          <p:cNvSpPr/>
          <p:nvPr/>
        </p:nvSpPr>
        <p:spPr>
          <a:xfrm>
            <a:off x="3794760" y="3749040"/>
            <a:ext cx="4892040" cy="91440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4"/>
          <p:cNvSpPr txBox="1"/>
          <p:nvPr/>
        </p:nvSpPr>
        <p:spPr>
          <a:xfrm>
            <a:off x="3959352" y="391363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part = nums[1:3]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part[0] = 99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print(nums)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[10, 20, 30, 40, 50, 60]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[ ]</a:t>
            </a:r>
            <a:endParaRPr lang="en-US" sz="1500" dirty="0"/>
          </a:p>
        </p:txBody>
      </p:sp>
      <p:sp>
        <p:nvSpPr>
          <p:cNvPr id="4" name="Text 4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Nested lists</a:t>
            </a:r>
            <a:endParaRPr lang="en-US" sz="2800" dirty="0"/>
          </a:p>
        </p:txBody>
      </p:sp>
      <p:sp>
        <p:nvSpPr>
          <p:cNvPr id="5" name="Text 5"/>
          <p:cNvSpPr txBox="1"/>
          <p:nvPr/>
        </p:nvSpPr>
        <p:spPr>
          <a:xfrm>
            <a:off x="457200" y="10515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list inside a list (like a table)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457200" y="1325880"/>
            <a:ext cx="3977640" cy="160020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7"/>
          <p:cNvSpPr txBox="1"/>
          <p:nvPr/>
        </p:nvSpPr>
        <p:spPr>
          <a:xfrm>
            <a:off x="621792" y="1490472"/>
            <a:ext cx="364845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matrix = [[1, 2, 3],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[4, 5, 6],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[7, 8, 9]]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print(matrix[1])  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[4, 5, 6]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print(matrix[1][2])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print(len(matrix))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3</a:t>
            </a:r>
            <a:endParaRPr lang="en-US" sz="1200" dirty="0"/>
          </a:p>
        </p:txBody>
      </p:sp>
      <p:sp>
        <p:nvSpPr>
          <p:cNvPr id="8" name="Text 8"/>
          <p:cNvSpPr txBox="1"/>
          <p:nvPr/>
        </p:nvSpPr>
        <p:spPr>
          <a:xfrm>
            <a:off x="868680" y="31089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0</a:t>
            </a:r>
            <a:endParaRPr lang="en-US" sz="1100" dirty="0"/>
          </a:p>
        </p:txBody>
      </p:sp>
      <p:sp>
        <p:nvSpPr>
          <p:cNvPr id="9" name="Text 9"/>
          <p:cNvSpPr txBox="1"/>
          <p:nvPr/>
        </p:nvSpPr>
        <p:spPr>
          <a:xfrm>
            <a:off x="1371600" y="31089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</a:t>
            </a:r>
            <a:endParaRPr lang="en-US" sz="1100" dirty="0"/>
          </a:p>
        </p:txBody>
      </p:sp>
      <p:sp>
        <p:nvSpPr>
          <p:cNvPr id="10" name="Text 10"/>
          <p:cNvSpPr txBox="1"/>
          <p:nvPr/>
        </p:nvSpPr>
        <p:spPr>
          <a:xfrm>
            <a:off x="1874520" y="31089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2</a:t>
            </a:r>
            <a:endParaRPr lang="en-US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502920" y="33375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0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868680" y="3337560"/>
            <a:ext cx="502920" cy="3657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</a:t>
            </a:r>
            <a:endParaRPr lang="en-US" sz="1400" dirty="0"/>
          </a:p>
        </p:txBody>
      </p:sp>
      <p:sp>
        <p:nvSpPr>
          <p:cNvPr id="13" name="Shape 13"/>
          <p:cNvSpPr/>
          <p:nvPr/>
        </p:nvSpPr>
        <p:spPr>
          <a:xfrm>
            <a:off x="1371600" y="3337560"/>
            <a:ext cx="502920" cy="3657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</a:t>
            </a:r>
            <a:endParaRPr lang="en-US" sz="1400" dirty="0"/>
          </a:p>
        </p:txBody>
      </p:sp>
      <p:sp>
        <p:nvSpPr>
          <p:cNvPr id="14" name="Shape 14"/>
          <p:cNvSpPr/>
          <p:nvPr/>
        </p:nvSpPr>
        <p:spPr>
          <a:xfrm>
            <a:off x="1874520" y="3337560"/>
            <a:ext cx="502920" cy="3657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</a:t>
            </a:r>
            <a:endParaRPr lang="en-US" sz="1400" dirty="0"/>
          </a:p>
        </p:txBody>
      </p:sp>
      <p:sp>
        <p:nvSpPr>
          <p:cNvPr id="15" name="Text 15"/>
          <p:cNvSpPr txBox="1"/>
          <p:nvPr/>
        </p:nvSpPr>
        <p:spPr>
          <a:xfrm>
            <a:off x="502920" y="3703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</a:t>
            </a:r>
            <a:endParaRPr lang="en-US" sz="1100" dirty="0"/>
          </a:p>
        </p:txBody>
      </p:sp>
      <p:sp>
        <p:nvSpPr>
          <p:cNvPr id="16" name="Shape 16"/>
          <p:cNvSpPr/>
          <p:nvPr/>
        </p:nvSpPr>
        <p:spPr>
          <a:xfrm>
            <a:off x="868680" y="3703320"/>
            <a:ext cx="502920" cy="3657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</a:t>
            </a:r>
            <a:endParaRPr lang="en-US" sz="1400" dirty="0"/>
          </a:p>
        </p:txBody>
      </p:sp>
      <p:sp>
        <p:nvSpPr>
          <p:cNvPr id="17" name="Shape 17"/>
          <p:cNvSpPr/>
          <p:nvPr/>
        </p:nvSpPr>
        <p:spPr>
          <a:xfrm>
            <a:off x="1371600" y="3703320"/>
            <a:ext cx="502920" cy="3657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</a:t>
            </a:r>
            <a:endParaRPr lang="en-US" sz="1400" dirty="0"/>
          </a:p>
        </p:txBody>
      </p:sp>
      <p:sp>
        <p:nvSpPr>
          <p:cNvPr id="18" name="Shape 18"/>
          <p:cNvSpPr/>
          <p:nvPr/>
        </p:nvSpPr>
        <p:spPr>
          <a:xfrm>
            <a:off x="1874520" y="3703320"/>
            <a:ext cx="502920" cy="365760"/>
          </a:xfrm>
          <a:prstGeom prst="rect">
            <a:avLst/>
          </a:prstGeom>
          <a:solidFill>
            <a:srgbClr val="FFD43B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6</a:t>
            </a:r>
            <a:endParaRPr lang="en-US" sz="1400" dirty="0"/>
          </a:p>
        </p:txBody>
      </p:sp>
      <p:sp>
        <p:nvSpPr>
          <p:cNvPr id="19" name="Text 19"/>
          <p:cNvSpPr txBox="1"/>
          <p:nvPr/>
        </p:nvSpPr>
        <p:spPr>
          <a:xfrm>
            <a:off x="502920" y="4069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2</a:t>
            </a:r>
            <a:endParaRPr lang="en-US" sz="1100" dirty="0"/>
          </a:p>
        </p:txBody>
      </p:sp>
      <p:sp>
        <p:nvSpPr>
          <p:cNvPr id="20" name="Shape 20"/>
          <p:cNvSpPr/>
          <p:nvPr/>
        </p:nvSpPr>
        <p:spPr>
          <a:xfrm>
            <a:off x="868680" y="4069080"/>
            <a:ext cx="502920" cy="3657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7</a:t>
            </a:r>
            <a:endParaRPr lang="en-US" sz="1400" dirty="0"/>
          </a:p>
        </p:txBody>
      </p:sp>
      <p:sp>
        <p:nvSpPr>
          <p:cNvPr id="21" name="Shape 21"/>
          <p:cNvSpPr/>
          <p:nvPr/>
        </p:nvSpPr>
        <p:spPr>
          <a:xfrm>
            <a:off x="1371600" y="4069080"/>
            <a:ext cx="502920" cy="3657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8</a:t>
            </a:r>
            <a:endParaRPr lang="en-US" sz="1400" dirty="0"/>
          </a:p>
        </p:txBody>
      </p:sp>
      <p:sp>
        <p:nvSpPr>
          <p:cNvPr id="22" name="Shape 22"/>
          <p:cNvSpPr/>
          <p:nvPr/>
        </p:nvSpPr>
        <p:spPr>
          <a:xfrm>
            <a:off x="1874520" y="4069080"/>
            <a:ext cx="502920" cy="3657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DE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9</a:t>
            </a:r>
            <a:endParaRPr lang="en-US" sz="1400" dirty="0"/>
          </a:p>
        </p:txBody>
      </p:sp>
      <p:sp>
        <p:nvSpPr>
          <p:cNvPr id="23" name="Text 23"/>
          <p:cNvSpPr txBox="1"/>
          <p:nvPr/>
        </p:nvSpPr>
        <p:spPr>
          <a:xfrm>
            <a:off x="2560320" y="32461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matrix[1][2]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row 1, column 2 → 6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600" dirty="0"/>
          </a:p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First index picks the row, second picks the column.</a:t>
            </a:r>
            <a:endParaRPr lang="en-US" sz="1200" dirty="0"/>
          </a:p>
        </p:txBody>
      </p:sp>
      <p:sp>
        <p:nvSpPr>
          <p:cNvPr id="24" name="Text 24"/>
          <p:cNvSpPr txBox="1"/>
          <p:nvPr/>
        </p:nvSpPr>
        <p:spPr>
          <a:xfrm>
            <a:off x="4709160" y="10515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Loop through rows and items</a:t>
            </a:r>
            <a:endParaRPr lang="en-US" sz="1200" dirty="0"/>
          </a:p>
        </p:txBody>
      </p:sp>
      <p:sp>
        <p:nvSpPr>
          <p:cNvPr id="25" name="Shape 25"/>
          <p:cNvSpPr/>
          <p:nvPr/>
        </p:nvSpPr>
        <p:spPr>
          <a:xfrm>
            <a:off x="4709160" y="1325880"/>
            <a:ext cx="3977640" cy="187452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6"/>
          <p:cNvSpPr txBox="1"/>
          <p:nvPr/>
        </p:nvSpPr>
        <p:spPr>
          <a:xfrm>
            <a:off x="4873752" y="1490472"/>
            <a:ext cx="364845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for row in matrix: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item in row: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print(item, end=" 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1 2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4 5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7 8 9</a:t>
            </a:r>
            <a:endParaRPr lang="en-US" sz="1200" dirty="0"/>
          </a:p>
        </p:txBody>
      </p:sp>
      <p:sp>
        <p:nvSpPr>
          <p:cNvPr id="27" name="Text 27"/>
          <p:cNvSpPr txBox="1"/>
          <p:nvPr/>
        </p:nvSpPr>
        <p:spPr>
          <a:xfrm>
            <a:off x="4709160" y="3383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Change one item</a:t>
            </a:r>
            <a:endParaRPr lang="en-US" sz="1200" dirty="0"/>
          </a:p>
        </p:txBody>
      </p:sp>
      <p:sp>
        <p:nvSpPr>
          <p:cNvPr id="28" name="Shape 28"/>
          <p:cNvSpPr/>
          <p:nvPr/>
        </p:nvSpPr>
        <p:spPr>
          <a:xfrm>
            <a:off x="4709160" y="3639312"/>
            <a:ext cx="3977640" cy="1024128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9"/>
          <p:cNvSpPr txBox="1"/>
          <p:nvPr/>
        </p:nvSpPr>
        <p:spPr>
          <a:xfrm>
            <a:off x="4873752" y="3803904"/>
            <a:ext cx="3648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matrix[0][0] = 10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print(matrix[0])  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[10, 2, 3]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print(matrix[2][-1])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2007</Words>
  <Application>Microsoft Office PowerPoint</Application>
  <PresentationFormat>On-screen Show (16:9)</PresentationFormat>
  <Paragraphs>320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Lists</dc:title>
  <dc:subject>PptxGenJS Presentation</dc:subject>
  <dc:creator>PptxGenJS</dc:creator>
  <cp:lastModifiedBy>Krishna Raj</cp:lastModifiedBy>
  <cp:revision>2</cp:revision>
  <dcterms:created xsi:type="dcterms:W3CDTF">2026-09-30T08:07:44Z</dcterms:created>
  <dcterms:modified xsi:type="dcterms:W3CDTF">2026-09-30T08:43:53Z</dcterms:modified>
</cp:coreProperties>
</file>