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6233B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645920"/>
            <a:ext cx="4754880" cy="4754880"/>
          </a:xfrm>
          <a:prstGeom prst="ellipse">
            <a:avLst/>
          </a:prstGeom>
          <a:solidFill>
            <a:srgbClr val="306998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FFD43B">
              <a:alpha val="3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 CS  ·  LECTURE NOTES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Loops: while &amp; for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Repetition, iteration, and control flow — with runnable demonstration programs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1545336"/>
            <a:ext cx="4681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Need Loops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70432" y="1847088"/>
            <a:ext cx="4681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and the repetition problem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457200" cy="45720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722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793992" y="1545336"/>
            <a:ext cx="4681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while Loop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793992" y="1847088"/>
            <a:ext cx="4681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Condition-controlled repetition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770632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2715768"/>
            <a:ext cx="4681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 Loop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70432" y="3017520"/>
            <a:ext cx="4681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Iterating over sequences with range()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2770632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172200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793992" y="2715768"/>
            <a:ext cx="4681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Control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793992" y="3017520"/>
            <a:ext cx="4681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break, continue, pass, and loop-else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941064"/>
            <a:ext cx="457200" cy="45720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170432" y="3886200"/>
            <a:ext cx="4681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Loops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170432" y="4187952"/>
            <a:ext cx="4681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inside loops, grids &amp; patterns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72200" y="3941064"/>
            <a:ext cx="457200" cy="45720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793992" y="3886200"/>
            <a:ext cx="4681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Programs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793992" y="4187952"/>
            <a:ext cx="4681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runnable examples using for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111496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1170432" y="5056632"/>
            <a:ext cx="4681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170432" y="5358384"/>
            <a:ext cx="4681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 to watch for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172200" y="5111496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17220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6793992" y="5056632"/>
            <a:ext cx="4681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793992" y="5358384"/>
            <a:ext cx="4681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for class or homework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Loops  |  while &amp; for statements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Loops?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5212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let us repeat a block of code without rewriting it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Whenever you think “do this again, and again…” you need a loop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loops: repetitive, hard to change, impossible to scale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offers two constructs: while (condition-controlled) and for (collection-controlled)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035040" y="1600200"/>
            <a:ext cx="5577840" cy="2926080"/>
          </a:xfrm>
          <a:prstGeom prst="roundRect">
            <a:avLst>
              <a:gd name="adj" fmla="val 2500"/>
            </a:avLst>
          </a:prstGeom>
          <a:solidFill>
            <a:srgbClr val="12203A"/>
          </a:solidFill>
          <a:ln/>
          <a:effectLst>
            <a:outerShdw sx="100000" sy="100000" kx="0" ky="0" algn="bl" rotWithShape="0" blurRad="76200" dist="25400" dir="5400000">
              <a:srgbClr val="0A122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99632" y="174650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6345936" y="174650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6492240" y="174650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63640" y="1947672"/>
            <a:ext cx="51206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print("Hello")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print("Hello")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print("Hello")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print("Hello")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print("Hello")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What if you needed 10,000 lines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like this? Loops solve it.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470916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loop, repeating an action means copy-pasting code by hand.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Loops  |  while &amp; for statements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while Loop — Syntax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12203A"/>
          </a:solidFill>
          <a:ln/>
          <a:effectLst>
            <a:outerShdw sx="100000" sy="100000" kx="0" ky="0" algn="bl" rotWithShape="0" blurRad="76200" dist="25400" dir="5400000">
              <a:srgbClr val="0A122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9222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79222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79222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993392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condition: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code block (loop body)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11880"/>
            <a:ext cx="5394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 is checked BEFORE each iteration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True → the body runs, then check again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False → the loop ends immediately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used when the number of repeats is unknown in advance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263640" y="1645920"/>
            <a:ext cx="5349240" cy="2743200"/>
          </a:xfrm>
          <a:prstGeom prst="roundRect">
            <a:avLst>
              <a:gd name="adj" fmla="val 2667"/>
            </a:avLst>
          </a:prstGeom>
          <a:solidFill>
            <a:srgbClr val="12203A"/>
          </a:solidFill>
          <a:ln/>
          <a:effectLst>
            <a:outerShdw sx="100000" sy="100000" kx="0" ky="0" algn="bl" rotWithShape="0" blurRad="76200" dist="25400" dir="5400000">
              <a:srgbClr val="0A122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28232" y="179222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1"/>
          <p:cNvSpPr/>
          <p:nvPr/>
        </p:nvSpPr>
        <p:spPr>
          <a:xfrm>
            <a:off x="6574536" y="179222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2"/>
          <p:cNvSpPr/>
          <p:nvPr/>
        </p:nvSpPr>
        <p:spPr>
          <a:xfrm>
            <a:off x="6720840" y="179222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92240" y="1993392"/>
            <a:ext cx="4892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1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count &lt;= 5: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print(count)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 += 1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1 2 3 4 5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457200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run this first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Loops  |  while &amp; for statements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CAUTION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Danger: The Infinite Loop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12203A"/>
          </a:solidFill>
          <a:ln/>
          <a:effectLst>
            <a:outerShdw sx="100000" sy="100000" kx="0" ky="0" algn="bl" rotWithShape="0" blurRad="76200" dist="25400" dir="5400000">
              <a:srgbClr val="0A122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9222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79222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79222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993392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DANGER — count never changes!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1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count &lt;= 5: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print(count)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Runs forever — Ctrl+C to stop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645920"/>
            <a:ext cx="5303520" cy="2377440"/>
          </a:xfrm>
          <a:prstGeom prst="roundRect">
            <a:avLst>
              <a:gd name="adj" fmla="val 3077"/>
            </a:avLst>
          </a:prstGeom>
          <a:solidFill>
            <a:srgbClr val="F5F8FB"/>
          </a:solidFill>
          <a:ln w="25400">
            <a:solidFill>
              <a:srgbClr val="FFD4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18745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while condition never becomes False, the loop never stops.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6974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students: what single line is missing that would fix this loop?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34340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 count += 1 inside the loop so the condition eventually becomes False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while loop needs a way for its condition to change over time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Loops  |  while &amp; for statements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REAL-WORLD USE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while with Unknown Repeats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12203A"/>
          </a:solidFill>
          <a:ln/>
          <a:effectLst>
            <a:outerShdw sx="100000" sy="100000" kx="0" ky="0" algn="bl" rotWithShape="0" blurRad="76200" dist="25400" dir="5400000">
              <a:srgbClr val="0A122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9222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79222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79222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993392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 = ""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password != "python123":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password = input("Enter password: ")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print("Access granted!")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173736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know in advance how many attempts the user will need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why while (not for) fits this task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12203A"/>
          </a:solidFill>
          <a:ln/>
          <a:effectLst>
            <a:outerShdw sx="100000" sy="100000" kx="0" ky="0" algn="bl" rotWithShape="0" blurRad="76200" dist="25400" dir="5400000">
              <a:srgbClr val="0A122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13232" y="426110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1"/>
          <p:cNvSpPr/>
          <p:nvPr/>
        </p:nvSpPr>
        <p:spPr>
          <a:xfrm>
            <a:off x="859536" y="426110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5840" y="426110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462272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ans = input("Type 'quit' to exit: ")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ans == "quit":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print("You typed:", ans)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420624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True loops “forever”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exits explicitly when a condition is met inside the body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Loops  |  while &amp; for statements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 Loop — Syntax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12203A"/>
          </a:solidFill>
          <a:ln/>
          <a:effectLst>
            <a:outerShdw sx="100000" sy="100000" kx="0" ky="0" algn="bl" rotWithShape="0" blurRad="76200" dist="25400" dir="5400000">
              <a:srgbClr val="0A122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9222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79222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79222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993392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variable in sequence: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code block (loop body)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11880"/>
            <a:ext cx="5394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over each element of a sequence exactly once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strings, lists, tuples, dicts, sets, and range()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counter or increment needed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the collection or count is already known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263640" y="1645920"/>
            <a:ext cx="5349240" cy="2743200"/>
          </a:xfrm>
          <a:prstGeom prst="roundRect">
            <a:avLst>
              <a:gd name="adj" fmla="val 2667"/>
            </a:avLst>
          </a:prstGeom>
          <a:solidFill>
            <a:srgbClr val="12203A"/>
          </a:solidFill>
          <a:ln/>
          <a:effectLst>
            <a:outerShdw sx="100000" sy="100000" kx="0" ky="0" algn="bl" rotWithShape="0" blurRad="76200" dist="25400" dir="5400000">
              <a:srgbClr val="0A122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28232" y="179222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1"/>
          <p:cNvSpPr/>
          <p:nvPr/>
        </p:nvSpPr>
        <p:spPr>
          <a:xfrm>
            <a:off x="6574536" y="179222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2"/>
          <p:cNvSpPr/>
          <p:nvPr/>
        </p:nvSpPr>
        <p:spPr>
          <a:xfrm>
            <a:off x="6720840" y="179222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92240" y="1993392"/>
            <a:ext cx="4892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letter in "Python":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print(letter)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P y t h o n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(one per line)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Loops  |  while &amp; for statements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Iterating Lists &amp; the range() Function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12203A"/>
          </a:solidFill>
          <a:ln/>
          <a:effectLst>
            <a:outerShdw sx="100000" sy="100000" kx="0" ky="0" algn="bl" rotWithShape="0" blurRad="76200" dist="25400" dir="5400000">
              <a:srgbClr val="0A122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4650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74650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74650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947672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 = ["apple", "banana", "cherry"]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fruit in fruits: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print(fruit)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20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range() generates a sequence of numbers — the most common way to control how many times a for loop runs.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645920"/>
          <a:ext cx="5303520" cy="246888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Call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Produces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range(5)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0, 1, 2, 3, 4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range(2, 6)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2, 3, 4, 5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range(0, 10, 2)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0, 2, 4, 6, 8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range(10, 0, -1)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10, 9, 8, …, 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Loops  |  while &amp; for statements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DECISION GUIDE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vs. while — Which to Use?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219456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for when…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while when…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know how many times to loop, or are iterating a known collection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don't know in advance how many iterations are needed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e.g. “print each name in this list”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e.g. “keep asking until the user enters a valid number”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29768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known count/collection → for; unknown/condition-based → while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can express the same logic — pick whichever reads more naturally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Loops  |  while &amp; for statements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 Control: break and continue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— exit the loop immediately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12203A"/>
          </a:solidFill>
          <a:ln/>
          <a:effectLst>
            <a:outerShdw sx="100000" sy="100000" kx="0" ky="0" algn="bl" rotWithShape="0" blurRad="76200" dist="25400" dir="5400000">
              <a:srgbClr val="0A122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11226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211226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211226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313432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num in range(1, 10):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num == 5: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print(num)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Prints: 1 2 3 4, then stops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— skip to the next iteration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9360" y="196596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12203A"/>
          </a:solidFill>
          <a:ln/>
          <a:effectLst>
            <a:outerShdw sx="100000" sy="100000" kx="0" ky="0" algn="bl" rotWithShape="0" blurRad="76200" dist="25400" dir="5400000">
              <a:srgbClr val="0A122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73952" y="211226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6620256" y="211226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766560" y="211226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37960" y="2313432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num in range(1, 6):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num == 3: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print(num)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Prints: 1 2 4 5 (skips 3)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16052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stops the loop entirely — nothing after it in the loop runs again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only skips the rest of the CURRENT iteration — the loop keeps going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student mix-up: quiz them by asking to predict output before running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Loops  |  while &amp; for statements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and the Loop else Clause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— do nothing (placeholder)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/>
          <a:effectLst>
            <a:outerShdw sx="100000" sy="100000" kx="0" ky="0" algn="bl" rotWithShape="0" blurRad="76200" dist="25400" dir="5400000">
              <a:srgbClr val="0A122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11226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211226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211226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313432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num in range(5):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  # TODO: implement later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6118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Stubs out code without causing a syntax error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— runs only if the loop finished without break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09360" y="1965960"/>
            <a:ext cx="5303520" cy="3017520"/>
          </a:xfrm>
          <a:prstGeom prst="roundRect">
            <a:avLst>
              <a:gd name="adj" fmla="val 2424"/>
            </a:avLst>
          </a:prstGeom>
          <a:solidFill>
            <a:srgbClr val="12203A"/>
          </a:solidFill>
          <a:ln/>
          <a:effectLst>
            <a:outerShdw sx="100000" sy="100000" kx="0" ky="0" algn="bl" rotWithShape="0" blurRad="76200" dist="25400" dir="5400000">
              <a:srgbClr val="0A122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73952" y="211226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6620256" y="211226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6766560" y="211226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37960" y="2313432"/>
            <a:ext cx="4846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num in range(2, 10):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num % 7 == 0: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print(f"{num} divisible by 7")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print("No number found")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Great for search-style logic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Loops  |  while &amp; for statements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Loops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inside another loop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inner loop runs completely for each single iteration of the outer loop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12203A"/>
          </a:solidFill>
          <a:ln/>
          <a:effectLst>
            <a:outerShdw sx="100000" sy="100000" kx="0" ky="0" algn="bl" rotWithShape="0" blurRad="76200" dist="25400" dir="5400000">
              <a:srgbClr val="0A122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320954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320954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320954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410712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range(1, 4):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j in range(1, 4):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print(f"i={i}, j={j}")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1645920"/>
            <a:ext cx="5349240" cy="3337560"/>
          </a:xfrm>
          <a:prstGeom prst="roundRect">
            <a:avLst>
              <a:gd name="adj" fmla="val 2192"/>
            </a:avLst>
          </a:prstGeom>
          <a:solidFill>
            <a:srgbClr val="12203A"/>
          </a:solidFill>
          <a:ln/>
          <a:effectLst>
            <a:outerShdw sx="100000" sy="100000" kx="0" ky="0" algn="bl" rotWithShape="0" blurRad="76200" dist="25400" dir="5400000">
              <a:srgbClr val="0A122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28232" y="179222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1"/>
          <p:cNvSpPr/>
          <p:nvPr/>
        </p:nvSpPr>
        <p:spPr>
          <a:xfrm>
            <a:off x="6574536" y="179222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2"/>
          <p:cNvSpPr/>
          <p:nvPr/>
        </p:nvSpPr>
        <p:spPr>
          <a:xfrm>
            <a:off x="6720840" y="179222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92240" y="1993392"/>
            <a:ext cx="4892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Multiplication table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range(1, 6):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j in range(1, 6):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print(i * j, end="\t")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print()  # newline after each row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1  2  3  4  5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2  4  6  8 10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3  6  9 12 15  ...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Loops  |  while &amp; for statements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Loops — Pattern Printing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12203A"/>
          </a:solidFill>
          <a:ln/>
          <a:effectLst>
            <a:outerShdw sx="100000" sy="100000" kx="0" ky="0" algn="bl" rotWithShape="0" blurRad="76200" dist="25400" dir="5400000">
              <a:srgbClr val="0A122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88366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88366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88366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084832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range(1, 6):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print("*" * i)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2743200" cy="2834640"/>
          </a:xfrm>
          <a:prstGeom prst="roundRect">
            <a:avLst>
              <a:gd name="adj" fmla="val 2667"/>
            </a:avLst>
          </a:prstGeom>
          <a:solidFill>
            <a:srgbClr val="F5F8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196596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***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****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*****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9281160" y="178308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whiteboard exercise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i and the string multiplication together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Loops  |  while &amp; for statements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POINTS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Mistakes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1636776"/>
            <a:ext cx="10259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Off-by-one errors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70432" y="1938528"/>
            <a:ext cx="10259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range(1, 5) gives 1–4, not 1–5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2551176"/>
            <a:ext cx="10259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update the loop variable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2852928"/>
            <a:ext cx="10259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infinite while loops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465576"/>
            <a:ext cx="10259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Modifying a list while iterating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70432" y="3767328"/>
            <a:ext cx="10259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 in nums: nums.remove(n) → skipped elements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4379976"/>
            <a:ext cx="10259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break and continue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70432" y="4681728"/>
            <a:ext cx="10259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exits; continue only skips one iteration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349240"/>
            <a:ext cx="457200" cy="45720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170432" y="5294376"/>
            <a:ext cx="10259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Indentation errors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170432" y="5596128"/>
            <a:ext cx="10259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uses indentation to define the loop body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Loops  |  while &amp; for statements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FOR-LOOP DEMOS  ·  1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Programs — Accumulating Values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7276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&amp; Average of a List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2203A"/>
          </a:solidFill>
          <a:ln/>
          <a:effectLst>
            <a:outerShdw sx="100000" sy="100000" kx="0" ky="0" algn="bl" rotWithShape="0" blurRad="76200" dist="25400" dir="5400000">
              <a:srgbClr val="0A122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06654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206654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206654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267712"/>
            <a:ext cx="49377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[12, 45, 7, 23, 56, 89, 34]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0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num in numbers: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+= num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 = total / len(numbers)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print("Total:", total)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print("Average:", average)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Pattern: accumulator variable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initialized BEFORE the loop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572768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Maximum Value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63640" y="19202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12203A"/>
          </a:solidFill>
          <a:ln/>
          <a:effectLst>
            <a:outerShdw sx="100000" sy="100000" kx="0" ky="0" algn="bl" rotWithShape="0" blurRad="76200" dist="25400" dir="5400000">
              <a:srgbClr val="0A122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28232" y="206654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6574536" y="206654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720840" y="206654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267712"/>
            <a:ext cx="489204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[12, 45, 7, 89, 23, 56]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largest = numbers[0]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num in numbers: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num &gt; largest: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largest = num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print("Largest number:", largest)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Mimics Python's built-in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max() function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Loops  |  while &amp; for statements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FOR-LOOP DEMOS  ·  2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Programs — Strings &amp; Enumeration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7276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Vowels in a String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2203A"/>
          </a:solidFill>
          <a:ln/>
          <a:effectLst>
            <a:outerShdw sx="100000" sy="100000" kx="0" ky="0" algn="bl" rotWithShape="0" blurRad="76200" dist="25400" dir="5400000">
              <a:srgbClr val="0A122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06654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206654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206654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267712"/>
            <a:ext cx="49377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"Programming with Python"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vowels = "aeiouAEIOU"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0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char in text: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char in vowels: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 += 1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print("Number of vowels:", count)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572768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enumerate() for Index + Value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63640" y="19202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12203A"/>
          </a:solidFill>
          <a:ln/>
          <a:effectLst>
            <a:outerShdw sx="100000" sy="100000" kx="0" ky="0" algn="bl" rotWithShape="0" blurRad="76200" dist="25400" dir="5400000">
              <a:srgbClr val="0A122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28232" y="206654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6574536" y="206654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720840" y="206654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267712"/>
            <a:ext cx="489204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 = ["apple", "banana",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"cherry", "date"]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index, fruit in enumerate(fruits):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print(f"{index}: {fruit}")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0: apple   1: banana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2: cherry  3: date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Loops  |  while &amp; for statements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FOR-LOOP DEMOS  ·  3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Programs — Pairs &amp; Mappings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7276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Looping Over a Dictionary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2203A"/>
          </a:solidFill>
          <a:ln/>
          <a:effectLst>
            <a:outerShdw sx="100000" sy="100000" kx="0" ky="0" algn="bl" rotWithShape="0" blurRad="76200" dist="25400" dir="5400000">
              <a:srgbClr val="0A122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06654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206654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206654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267712"/>
            <a:ext cx="49377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{"Alice": 85, "Bob": 92,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"Charlie": 78}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name, score in scores.items():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print(f"{name} scored {score}")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.items() unpacks key-value pairs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572768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zip() for Two Lists Together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63640" y="19202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12203A"/>
          </a:solidFill>
          <a:ln/>
          <a:effectLst>
            <a:outerShdw sx="100000" sy="100000" kx="0" ky="0" algn="bl" rotWithShape="0" blurRad="76200" dist="25400" dir="5400000">
              <a:srgbClr val="0A122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28232" y="206654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6574536" y="206654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720840" y="206654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267712"/>
            <a:ext cx="489204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 = ["Alice", "Bob", "Charlie"]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[85, 92, 78]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name, score in zip(names, scores):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print(f"{name}: {score}")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Pairs items without manual indexing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Loops  |  while &amp; for statements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FOR-LOOP DEMOS  ·  4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Programs — Filtering &amp; Logic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7276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New List (Filtering)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2203A"/>
          </a:solidFill>
          <a:ln/>
          <a:effectLst>
            <a:outerShdw sx="100000" sy="100000" kx="0" ky="0" algn="bl" rotWithShape="0" blurRad="76200" dist="25400" dir="5400000">
              <a:srgbClr val="0A122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06654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206654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206654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267712"/>
            <a:ext cx="49377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list(range(1, 21))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even_numbers = []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num in numbers: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num % 2 == 0: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even_numbers.append(num)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print(even_numbers)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Leads into list comprehensions: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[n for n in numbers if n%2==0]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572768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FizzBuzz — A Classic Problem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63640" y="19202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12203A"/>
          </a:solidFill>
          <a:ln/>
          <a:effectLst>
            <a:outerShdw sx="100000" sy="100000" kx="0" ky="0" algn="bl" rotWithShape="0" blurRad="76200" dist="25400" dir="5400000">
              <a:srgbClr val="0A122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28232" y="206654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6574536" y="206654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720840" y="206654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267712"/>
            <a:ext cx="489204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range(1, 21):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 % 15 == 0: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print("FizzBuzz")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i % 3 == 0: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print("Fizz")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i % 5 == 0: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print("Buzz")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print(i)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Loops  |  while &amp; for statements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FOR-LOOP DEMOS  ·  5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Programs — Grids &amp; Puzzles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7276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for — Grid of Coordinates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2203A"/>
          </a:solidFill>
          <a:ln/>
          <a:effectLst>
            <a:outerShdw sx="100000" sy="100000" kx="0" ky="0" algn="bl" rotWithShape="0" blurRad="76200" dist="25400" dir="5400000">
              <a:srgbClr val="0A122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06654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206654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206654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267712"/>
            <a:ext cx="49377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row in range(3):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col in range(3):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print(f"({row},{col})", end=" ")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(0,0) (0,1) (0,2)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(1,0) (1,1) (1,2)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(2,0) (2,1) (2,2)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572768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Reversing a String Manually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63640" y="19202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12203A"/>
          </a:solidFill>
          <a:ln/>
          <a:effectLst>
            <a:outerShdw sx="100000" sy="100000" kx="0" ky="0" algn="bl" rotWithShape="0" blurRad="76200" dist="25400" dir="5400000">
              <a:srgbClr val="0A122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28232" y="206654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6574536" y="206654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720840" y="206654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267712"/>
            <a:ext cx="489204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"Python"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reversed_text = ""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char in text: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reversed_text = char + reversed_text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print(reversed_text)  # nohtyP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Ask students to predict output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before running it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Loops  |  while &amp; for statements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In-Class / Homework Exercises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while loop that prints all even numbers from 2 to 20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for loop using range() that sums the numbers from 1 to 100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while loop to ask for numbers until the user enters a negative one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multiplication table (1–10) for a number the user enters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break to find the first prime number greater than 100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nested loops to print a numeric triangle pattern (1 / 1 2 / 1 2 3 / …)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build a simple calculator using while True and break that runs until the user types “exit”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Loops  |  while &amp; for statements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Loops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12203A"/>
          </a:solidFill>
          <a:ln/>
          <a:effectLst>
            <a:outerShdw sx="100000" sy="100000" kx="0" ky="0" algn="bl" rotWithShape="0" blurRad="76200" dist="25400" dir="5400000">
              <a:srgbClr val="0A122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74650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859536" y="174650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174650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947672"/>
            <a:ext cx="50292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while loop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condition: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body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 loop over a sequence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item in sequence: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body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 loop with range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range(start, stop, step):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body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2203A"/>
          </a:solidFill>
          <a:ln/>
          <a:effectLst>
            <a:outerShdw sx="100000" sy="100000" kx="0" ky="0" algn="bl" rotWithShape="0" blurRad="76200" dist="25400" dir="5400000">
              <a:srgbClr val="0A122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28232" y="174650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9"/>
          <p:cNvSpPr/>
          <p:nvPr/>
        </p:nvSpPr>
        <p:spPr>
          <a:xfrm>
            <a:off x="6574536" y="174650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6720840" y="174650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1947672"/>
            <a:ext cx="48920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loop control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      # exit loop entirely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   # skip to next iteration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      # do nothing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loop-else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/ while ...: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body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runs if loop finished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without break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Loops  |  while &amp; for statements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30699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828800"/>
            <a:ext cx="3657600" cy="3657600"/>
          </a:xfrm>
          <a:prstGeom prst="ellipse">
            <a:avLst/>
          </a:prstGeom>
          <a:solidFill>
            <a:srgbClr val="FFD43B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6517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611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exercises, then we'll walk through solutions together.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2026-09-03T07:44:29Z</dcterms:created>
  <dcterms:modified xsi:type="dcterms:W3CDTF">2026-09-03T07:44:29Z</dcterms:modified>
</cp:coreProperties>
</file>