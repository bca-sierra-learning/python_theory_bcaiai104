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2" r:id="rId6"/>
    <p:sldId id="264" r:id="rId7"/>
    <p:sldId id="266" r:id="rId8"/>
    <p:sldId id="267" r:id="rId9"/>
    <p:sldId id="273" r:id="rId10"/>
    <p:sldId id="274" r:id="rId11"/>
    <p:sldId id="276" r:id="rId12"/>
    <p:sldId id="277" r:id="rId13"/>
    <p:sldId id="283" r:id="rId14"/>
    <p:sldId id="284" r:id="rId15"/>
    <p:sldId id="285" r:id="rId16"/>
    <p:sldId id="28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638" y="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7253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lesson: by the end, students can create lists, use all 11 list methods, and solve basic list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flow: concepts first (collection, sequence, list), then syntax, then methods, then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how would you store marks of 60 students? 60 variables is impractical. A collection solves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Mutable means changeable after creation. Point out the bracket shapes: [ ] list, ( ) tuple, { } set and dictionary.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properties to remember. Ask students which of these a tuple does NOT have (mutable).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list("abc") splits a string into characters. list(5) gives an error because an int is not iterable.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wrong version first and let students be surprised that all rows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only; the next slides cover each method with an example. Warn: a = a.sort() sets a to None.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 is a statement, not a function, so it has no parentheses around the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each exercise: show the problem, give students 2-3 minutes, then reveal the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trace the list after every line on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Extension: also print how many students scored above the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3 minutes.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each answer back to the confusions slide: = vs copy, sort vs sorted, append vs extend.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Problems 1-4 practise basics; 5-8 combine several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and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Lists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F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Collections, sequences, creating and initializing lists, built-in methods, and practice exercises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20640" y="132588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111A26"/>
          </a:solidFill>
          <a:ln w="12700">
            <a:solidFill>
              <a:srgbClr val="111A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5285232" y="1490472"/>
            <a:ext cx="323697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[85, 90, 78]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marks.append(95)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print(marks)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[85, 90, 78, 95]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7432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learn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48640" cy="54864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4008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234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collection?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057400"/>
            <a:ext cx="548640" cy="54864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400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057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sequence?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2880360"/>
            <a:ext cx="548640" cy="54864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64008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880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list?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548640" cy="54864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64008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703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new list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754880" y="1234440"/>
            <a:ext cx="548640" cy="54864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475488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1234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initialization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754880" y="2057400"/>
            <a:ext cx="548640" cy="54864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47548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2057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list methods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754880" y="2880360"/>
            <a:ext cx="548640" cy="54864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475488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2880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Worked-out exercises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7432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collection?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collection is a single object that holds many values together under one name.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7452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values inside it are called items or elements.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process all of them as a group, e.g. in a loop.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for mark1, mark2, mark3 ... variables.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3931920" cy="1325880"/>
          </a:xfrm>
          <a:prstGeom prst="roundRect">
            <a:avLst>
              <a:gd name="adj" fmla="val 689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" y="3474720"/>
            <a:ext cx="548640" cy="54864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611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25880" y="3474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analogy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3749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school bag is the collection; the books inside are its elements.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75488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collection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54880" y="137160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 txBox="1"/>
          <p:nvPr/>
        </p:nvSpPr>
        <p:spPr>
          <a:xfrm>
            <a:off x="4919472" y="1536192"/>
            <a:ext cx="36027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mark1 = 85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mark2 = 90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mark3 = 78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754880" y="2743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collection (a list)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54880" y="301752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 txBox="1"/>
          <p:nvPr/>
        </p:nvSpPr>
        <p:spPr>
          <a:xfrm>
            <a:off x="4919472" y="3182112"/>
            <a:ext cx="360273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[85, 90, 78]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print(marks)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[85, 90, 78]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7432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has four built-in collection types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Ordered?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Mutable?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Duplicates?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[10, 20, 30]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(10, 20, 30)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{10, 20, 30}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Dictionary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{"a": 1, "b": 2}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(Python 3.7+)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Keys: 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6D5"/>
          </a:solidFill>
          <a:ln w="12700">
            <a:solidFill>
              <a:srgbClr val="FFF6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685800" y="370332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focus: the list.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most commonly used collection because it is ordered, changeable and allows any mix of values.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7432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list?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is an ordered, changeable sequence of items written inside square brackets </a:t>
            </a:r>
            <a:r>
              <a:rPr lang="en-US" sz="16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r>
              <a:rPr lang="en-US" sz="16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with items separated by commas.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2125980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560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keep the order you add them in; each has an index.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91840" y="182880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474720" y="2011680"/>
            <a:ext cx="457200" cy="45720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9020" y="212598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06908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2560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remove or change items after the list is created.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26480" y="182880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6309360" y="2011680"/>
            <a:ext cx="457200" cy="45720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3660" y="212598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90372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309360" y="2560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list can mix types: int, str, float, bool.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57200" y="329184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640080" y="3474720"/>
            <a:ext cx="457200" cy="45720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" y="3589020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3474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allowed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640080" y="40233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value can appear more than once.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3291840" y="329184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3474720" y="3474720"/>
            <a:ext cx="457200" cy="45720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9020" y="3589020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4069080" y="3474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size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3474720" y="40233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and shrinks as needed; no fixed length.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6126480" y="329184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5"/>
          <p:cNvSpPr/>
          <p:nvPr/>
        </p:nvSpPr>
        <p:spPr>
          <a:xfrm>
            <a:off x="6309360" y="3474720"/>
            <a:ext cx="457200" cy="45720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3660" y="3589020"/>
            <a:ext cx="228600" cy="22860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903720" y="3474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Nestable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6309360" y="40233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can contain other lists: [[1, 2], [3, 4]].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7432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 of creating a new list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1051560"/>
          </a:xfrm>
          <a:prstGeom prst="roundRect">
            <a:avLst>
              <a:gd name="adj" fmla="val 869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40080" y="1207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1 · Square brackets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727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list_name = [item1, item2, ...]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1051560"/>
          </a:xfrm>
          <a:prstGeom prst="roundRect">
            <a:avLst>
              <a:gd name="adj" fmla="val 869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4892040" y="1207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2 · list() constructor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5727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list_name = list(iterable)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5120640" cy="2286000"/>
          </a:xfrm>
          <a:prstGeom prst="roundRect">
            <a:avLst>
              <a:gd name="adj" fmla="val 4000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621792" y="2542032"/>
            <a:ext cx="4791456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empty1 = []                   </a:t>
            </a:r>
            <a:r>
              <a:rPr lang="en-US" sz="12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empty list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empty2 = list()               </a:t>
            </a:r>
            <a:r>
              <a:rPr lang="en-US" sz="12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also empty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 = ["red", "green", "blue"]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letters = list("abc")         </a:t>
            </a:r>
            <a:r>
              <a:rPr lang="en-US" sz="12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['a', 'b', 'c']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from_tuple = list((1, 2, 3))  </a:t>
            </a:r>
            <a:r>
              <a:rPr lang="en-US" sz="12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[1, 2, 3]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list(range(1, 6))   </a:t>
            </a:r>
            <a:r>
              <a:rPr lang="en-US" sz="12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[1, 2, 3, 4, 5]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print(type(colors))   </a:t>
            </a:r>
            <a:r>
              <a:rPr lang="en-US" sz="12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'list'&gt;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52160" y="2377440"/>
            <a:ext cx="2834640" cy="228600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6035040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to remember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83464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square brackets, not ( ) or { }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items with commas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strings in quotes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list() needs an iterable: string, tuple, range, set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7432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Initialization with a loop, and a common trap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list step by step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108960" cy="2011680"/>
          </a:xfrm>
          <a:prstGeom prst="roundRect">
            <a:avLst>
              <a:gd name="adj" fmla="val 4545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21792" y="1490472"/>
            <a:ext cx="277977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 = []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range(1, 6):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nums.append(i)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[1, 2, 3, 4, 5]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1051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25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Wrong: rows share one list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0" y="1325880"/>
            <a:ext cx="4846320" cy="1417320"/>
          </a:xfrm>
          <a:prstGeom prst="roundRect">
            <a:avLst>
              <a:gd name="adj" fmla="val 6452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4005072" y="1490472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 = [[0] * 3] * 3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grid[0][0] = 9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print(grid)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[[9, 0, 0], [9, 0, 0], [9, 0, 0]]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2926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Right: each row is a new list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0" y="3200400"/>
            <a:ext cx="4846320" cy="1463040"/>
          </a:xfrm>
          <a:prstGeom prst="roundRect">
            <a:avLst>
              <a:gd name="adj" fmla="val 6250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4005072" y="3364992"/>
            <a:ext cx="451713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 = [[0] * 3 for _ in range(3)]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grid[0][0] = 9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print(grid)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[[9, 0, 0], [0, 0, 0], [0, 0, 0]]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3108960" cy="1097280"/>
          </a:xfrm>
          <a:prstGeom prst="roundRect">
            <a:avLst>
              <a:gd name="adj" fmla="val 8333"/>
            </a:avLst>
          </a:prstGeom>
          <a:solidFill>
            <a:srgbClr val="FFF6D5"/>
          </a:solidFill>
          <a:ln w="12700">
            <a:solidFill>
              <a:srgbClr val="FFF6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640080" y="35661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Multiplying a nested list copies references, not rows. Use a comprehension for 2D lists.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7432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11 built-in list methods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with dot notation: </a:t>
            </a:r>
            <a:r>
              <a:rPr lang="en-US" sz="13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list_name.method(args)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Most change the list in place and return None.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append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list.append(x)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x to the 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extend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list.extend(iterable)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every item of iterable to the 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insert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list.insert(i, x)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Inserts x at index 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remove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list.remove(x)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the first occurrence of 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pop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list.pop([i])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and returns item at i (default: last)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clear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list.clear()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all items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index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list.index(x[, start[, end]])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of the first 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count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list.count(x)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times x appears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sort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list.sort(key=None, reverse=False)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Sorts the list in place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reverse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list.reverse()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Reverses the order in place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copy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list.copy()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Makes a shallow copy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list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7432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functions that work with lists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not list methods, but students use them with lists constantly. Examples use </a:t>
            </a:r>
            <a:r>
              <a:rPr lang="en-US" sz="13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[4, 1, 9]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len(a)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len(a)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sum(a)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sum(a)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min(a) / max(a)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max(a)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sorted(a)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sorted(a)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[1, 4, 9]  (a unchanged)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 a[i]  (statement)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 a[0]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becomes [1, 9]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202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Worked-out exercises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F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output before running the code.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7432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1 · Build a shopping list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383280" cy="3566160"/>
          </a:xfrm>
          <a:prstGeom prst="roundRect">
            <a:avLst>
              <a:gd name="adj" fmla="val 270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786384" cy="329184"/>
          </a:xfrm>
          <a:prstGeom prst="roundRect">
            <a:avLst>
              <a:gd name="adj" fmla="val 22222"/>
            </a:avLst>
          </a:prstGeom>
          <a:solidFill>
            <a:srgbClr val="CDEBD3"/>
          </a:solidFill>
          <a:ln w="12700">
            <a:solidFill>
              <a:srgbClr val="CDEB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40080" y="128016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83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05740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an empty list, add three items, insert "milk" at the start, remove "soap", and print the result.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154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4290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append() adds at the end, insert(0, ...) adds at the front, and remove() deletes by value.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0" y="1097280"/>
            <a:ext cx="4572000" cy="3566160"/>
          </a:xfrm>
          <a:prstGeom prst="roundRect">
            <a:avLst>
              <a:gd name="adj" fmla="val 2564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4279392" y="1261872"/>
            <a:ext cx="4242816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 = []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cart.append("bread")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cart.append("soap")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cart.append("eggs")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cart.insert(0, "milk")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cart.remove("soap")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print(cart)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print(len(cart))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['milk', 'bread', 'eggs']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7432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2 · Class marks report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383280" cy="3566160"/>
          </a:xfrm>
          <a:prstGeom prst="roundRect">
            <a:avLst>
              <a:gd name="adj" fmla="val 270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996696" cy="329184"/>
          </a:xfrm>
          <a:prstGeom prst="roundRect">
            <a:avLst>
              <a:gd name="adj" fmla="val 22222"/>
            </a:avLst>
          </a:prstGeom>
          <a:solidFill>
            <a:srgbClr val="FFE9A8"/>
          </a:solidFill>
          <a:ln w="12700">
            <a:solidFill>
              <a:srgbClr val="FFE9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40080" y="1280160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83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05740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marks of 6 students, print the highest, lowest, average, and how many scored 90.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154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4290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 is 460 over 6 marks, so the average is 76.67. count(90) finds two 90s.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0" y="1097280"/>
            <a:ext cx="4572000" cy="3566160"/>
          </a:xfrm>
          <a:prstGeom prst="roundRect">
            <a:avLst>
              <a:gd name="adj" fmla="val 2564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4279392" y="1261872"/>
            <a:ext cx="4242816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[78, 90, 65, 90, 82, 55]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print("Highest:", max(marks))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print("Lowest:", min(marks))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= sum(marks) / len(marks)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print("Average:", round(avg, 2))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print("Scored 90:", marks.count(90))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Highest: 90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Lowest: 55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Average: 76.67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Scored 90: 2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7432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the output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937760" cy="3566160"/>
          </a:xfrm>
          <a:prstGeom prst="roundRect">
            <a:avLst>
              <a:gd name="adj" fmla="val 2564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21792" y="1261872"/>
            <a:ext cx="4608576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[1, 2, 3]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b.append(4)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[5, 2, 8]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print(c.sort())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Q3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[1, 2]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d.append([3, 4])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print(len(d))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0" y="1097280"/>
            <a:ext cx="3017520" cy="3566160"/>
          </a:xfrm>
          <a:prstGeom prst="roundRect">
            <a:avLst>
              <a:gd name="adj" fmla="val 3030"/>
            </a:avLst>
          </a:prstGeom>
          <a:solidFill>
            <a:srgbClr val="FFF6D5"/>
          </a:solidFill>
          <a:ln w="12700">
            <a:solidFill>
              <a:srgbClr val="FFF6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852160" y="1280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Think, pair, share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178308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answers first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a partner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code to check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35661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each question tests one idea from today.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7432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560320" cy="3566160"/>
          </a:xfrm>
          <a:prstGeom prst="roundRect">
            <a:avLst>
              <a:gd name="adj" fmla="val 357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640080" cy="329184"/>
          </a:xfrm>
          <a:prstGeom prst="roundRect">
            <a:avLst>
              <a:gd name="adj" fmla="val 22222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40080" y="128016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83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3, 4]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56032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a does not copy. a and b are the same list, so appending through b changes 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560320" cy="3566160"/>
          </a:xfrm>
          <a:prstGeom prst="roundRect">
            <a:avLst>
              <a:gd name="adj" fmla="val 357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474720" y="1280160"/>
            <a:ext cx="640080" cy="329184"/>
          </a:xfrm>
          <a:prstGeom prst="roundRect">
            <a:avLst>
              <a:gd name="adj" fmla="val 22222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3474720" y="128016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783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56032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sort() changes the list in place and returns nothing. Print c afterwards to see [2, 5, 8].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560320" cy="3566160"/>
          </a:xfrm>
          <a:prstGeom prst="roundRect">
            <a:avLst>
              <a:gd name="adj" fmla="val 357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309360" y="1280160"/>
            <a:ext cx="640080" cy="329184"/>
          </a:xfrm>
          <a:prstGeom prst="roundRect">
            <a:avLst>
              <a:gd name="adj" fmla="val 22222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6309360" y="128016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1783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256032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adds the whole list [3, 4] as one item: d is [1, 2, [3, 4]].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7432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problems for homework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749808"/>
          </a:xfrm>
          <a:prstGeom prst="roundRect">
            <a:avLst>
              <a:gd name="adj" fmla="val 1219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94360" y="1271016"/>
            <a:ext cx="402336" cy="402336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594360" y="1271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097280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5 numbers from the user into a list; print their sum and average.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3977640" cy="749808"/>
          </a:xfrm>
          <a:prstGeom prst="roundRect">
            <a:avLst>
              <a:gd name="adj" fmla="val 1219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846320" y="1271016"/>
            <a:ext cx="402336" cy="402336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4846320" y="1271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1097280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a list without reverse() or slicing (use a loop).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993392"/>
            <a:ext cx="3977640" cy="749808"/>
          </a:xfrm>
          <a:prstGeom prst="roundRect">
            <a:avLst>
              <a:gd name="adj" fmla="val 1219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94360" y="2167128"/>
            <a:ext cx="402336" cy="402336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594360" y="2167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1993392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names = ["ravi", "anu", "kiran"], make a new list with each name in capitals.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1993392"/>
            <a:ext cx="3977640" cy="749808"/>
          </a:xfrm>
          <a:prstGeom prst="roundRect">
            <a:avLst>
              <a:gd name="adj" fmla="val 1219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846320" y="2167128"/>
            <a:ext cx="402336" cy="402336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4846320" y="2167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1993392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how many items in a list are greater than the list’s average.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889504"/>
            <a:ext cx="3977640" cy="749808"/>
          </a:xfrm>
          <a:prstGeom prst="roundRect">
            <a:avLst>
              <a:gd name="adj" fmla="val 1219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94360" y="3063240"/>
            <a:ext cx="402336" cy="402336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594360" y="3063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2889504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two lists; print the result sorted and without duplicates.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2889504"/>
            <a:ext cx="3977640" cy="749808"/>
          </a:xfrm>
          <a:prstGeom prst="roundRect">
            <a:avLst>
              <a:gd name="adj" fmla="val 1219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846320" y="3063240"/>
            <a:ext cx="402336" cy="402336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4846320" y="3063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394960" y="2889504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a list left by one: [1, 2, 3, 4] becomes [2, 3, 4, 1].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785616"/>
            <a:ext cx="3977640" cy="749808"/>
          </a:xfrm>
          <a:prstGeom prst="roundRect">
            <a:avLst>
              <a:gd name="adj" fmla="val 1219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94360" y="3959352"/>
            <a:ext cx="402336" cy="402336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594360" y="3959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143000" y="3785616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position of every occurrence of a given value in a list.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09160" y="3785616"/>
            <a:ext cx="3977640" cy="749808"/>
          </a:xfrm>
          <a:prstGeom prst="roundRect">
            <a:avLst>
              <a:gd name="adj" fmla="val 1219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846320" y="3959352"/>
            <a:ext cx="402336" cy="402336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 txBox="1"/>
          <p:nvPr/>
        </p:nvSpPr>
        <p:spPr>
          <a:xfrm>
            <a:off x="4846320" y="3959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394960" y="3785616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3 × 3 matrix as a nested list; print the sum of each row.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26374F"/>
          </a:solidFill>
          <a:ln w="12700">
            <a:solidFill>
              <a:srgbClr val="263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80594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64592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is an ordered, mutable sequence written in [ ].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663440" y="146304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26374F"/>
          </a:solidFill>
          <a:ln w="12700">
            <a:solidFill>
              <a:srgbClr val="263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4892040" y="1691640"/>
            <a:ext cx="457200" cy="4572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6340" y="180594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532120" y="164592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start at 0; negative indexes count from the end.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306324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26374F"/>
          </a:solidFill>
          <a:ln w="12700">
            <a:solidFill>
              <a:srgbClr val="263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777240" y="3291840"/>
            <a:ext cx="457200" cy="4572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340614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324612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list methods change the list in place and return None.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663440" y="306324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26374F"/>
          </a:solidFill>
          <a:ln w="12700">
            <a:solidFill>
              <a:srgbClr val="263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4892040" y="3291840"/>
            <a:ext cx="457200" cy="4572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6340" y="340614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532120" y="324612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copy() or sorted() when the original must stay unchanged.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2007</Words>
  <Application>Microsoft Office PowerPoint</Application>
  <PresentationFormat>On-screen Show (16:9)</PresentationFormat>
  <Paragraphs>320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Lists</dc:title>
  <dc:subject>PptxGenJS Presentation</dc:subject>
  <dc:creator>PptxGenJS</dc:creator>
  <cp:lastModifiedBy>Krishna Raj</cp:lastModifiedBy>
  <cp:revision>2</cp:revision>
  <dcterms:created xsi:type="dcterms:W3CDTF">2026-09-30T08:07:44Z</dcterms:created>
  <dcterms:modified xsi:type="dcterms:W3CDTF">2026-09-30T08:43:53Z</dcterms:modified>
</cp:coreProperties>
</file>